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12"/>
  </p:notesMasterIdLst>
  <p:sldIdLst>
    <p:sldId id="500" r:id="rId2"/>
    <p:sldId id="492" r:id="rId3"/>
    <p:sldId id="499" r:id="rId4"/>
    <p:sldId id="494" r:id="rId5"/>
    <p:sldId id="503" r:id="rId6"/>
    <p:sldId id="506" r:id="rId7"/>
    <p:sldId id="505" r:id="rId8"/>
    <p:sldId id="504" r:id="rId9"/>
    <p:sldId id="501" r:id="rId10"/>
    <p:sldId id="43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5C2A"/>
    <a:srgbClr val="1A4A7A"/>
    <a:srgbClr val="7A3500"/>
    <a:srgbClr val="006B6B"/>
    <a:srgbClr val="800000"/>
    <a:srgbClr val="D4A017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9110" autoAdjust="0"/>
  </p:normalViewPr>
  <p:slideViewPr>
    <p:cSldViewPr>
      <p:cViewPr>
        <p:scale>
          <a:sx n="66" d="100"/>
          <a:sy n="66" d="100"/>
        </p:scale>
        <p:origin x="1958" y="835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283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7FA5-C067-4E4F-8147-A77E89348119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5BE67-2E9A-447C-AF46-59D2728179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2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15BE67-2E9A-447C-AF46-59D27281797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69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8FCD1C-8588-4709-BEB2-73486BCF474D}" type="datetime5">
              <a:rPr lang="en-US" smtClean="0"/>
              <a:t>24-Apr-26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914900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914900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76827"/>
      </p:ext>
    </p:extLst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676400" cy="228600"/>
          </a:xfrm>
        </p:spPr>
        <p:txBody>
          <a:bodyPr/>
          <a:lstStyle/>
          <a:p>
            <a:fld id="{8D3E23C1-5B44-4112-93AF-A30E9A7C524B}" type="datetime5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33950"/>
            <a:ext cx="3962400" cy="228600"/>
          </a:xfrm>
        </p:spPr>
        <p:txBody>
          <a:bodyPr/>
          <a:lstStyle/>
          <a:p>
            <a:r>
              <a:rPr lang="en-US" dirty="0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43800" y="4914900"/>
            <a:ext cx="1143000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21197"/>
      </p:ext>
    </p:extLst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4914900"/>
            <a:ext cx="1447800" cy="228600"/>
          </a:xfrm>
        </p:spPr>
        <p:txBody>
          <a:bodyPr/>
          <a:lstStyle/>
          <a:p>
            <a:fld id="{7E8AD04D-D170-40EE-B403-D97B74D6DFB9}" type="datetime5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90800" y="4914900"/>
            <a:ext cx="3962400" cy="228600"/>
          </a:xfrm>
        </p:spPr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0" y="4914900"/>
            <a:ext cx="1447800" cy="2286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45495"/>
      </p:ext>
    </p:extLst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436A-7370-4199-BDE3-9FA46362589A}" type="datetime5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22900"/>
      </p:ext>
    </p:extLst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FA6F7-2FD3-4E44-96EF-0AABFEB3FD4C}" type="datetime5">
              <a:rPr lang="en-US" smtClean="0"/>
              <a:t>24-Apr-26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95737"/>
      </p:ext>
    </p:extLst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87E73-BF7C-4D7B-AD77-6EC912569560}" type="datetime5">
              <a:rPr lang="en-US" smtClean="0"/>
              <a:t>24-Apr-26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06472"/>
      </p:ext>
    </p:extLst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1FB8-617B-4727-8374-B778C5FC049E}" type="datetime5">
              <a:rPr lang="en-US" smtClean="0"/>
              <a:t>24-Apr-26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15902"/>
      </p:ext>
    </p:extLst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401DF-D39C-424B-AD8B-46E59B2896B9}" type="datetime5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25427"/>
      </p:ext>
    </p:extLst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6C55-F6DB-479E-B4FF-F57EC2760E6F}" type="datetime5">
              <a:rPr lang="en-US" smtClean="0"/>
              <a:t>24-Apr-26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466"/>
      </p:ext>
    </p:extLst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AEE2-BAD7-4BEC-8CB0-1B79A92617B4}" type="datetime5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33303"/>
      </p:ext>
    </p:extLst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468C-78FC-431C-9733-A70C6804E538}" type="datetime5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73509"/>
      </p:ext>
    </p:extLst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2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Picture1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7542" y="4837714"/>
            <a:ext cx="9126458" cy="305786"/>
          </a:xfrm>
          <a:prstGeom prst="rect">
            <a:avLst/>
          </a:prstGeom>
        </p:spPr>
      </p:pic>
      <p:pic>
        <p:nvPicPr>
          <p:cNvPr id="7" name="Picture 6" descr="Picture2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5400" y="4592827"/>
            <a:ext cx="660400" cy="53558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3FA7430-01A1-4F5E-B7E3-1D80248A6685}" type="datetime5">
              <a:rPr lang="en-US" smtClean="0"/>
              <a:t>24-Apr-26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91490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Title of Seminar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91490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6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>
    <p:wipe/>
  </p:transition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5749"/>
            <a:ext cx="7772400" cy="3276601"/>
          </a:xfrm>
        </p:spPr>
        <p:txBody>
          <a:bodyPr>
            <a:noAutofit/>
          </a:bodyPr>
          <a:lstStyle/>
          <a:p>
            <a:pPr lvl="0"/>
            <a:r>
              <a:rPr lang="en-IN" sz="18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Mini Project II</a:t>
            </a:r>
            <a:br>
              <a:rPr lang="en-IN" sz="18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2400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“</a:t>
            </a:r>
            <a:r>
              <a:rPr lang="en-IN" sz="28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Food Agent AI”</a:t>
            </a:r>
            <a:br>
              <a:rPr lang="en-IN" sz="2400" b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lang="en-IN" sz="2400" b="1" dirty="0">
                <a:solidFill>
                  <a:srgbClr val="0070C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Presented By</a:t>
            </a:r>
            <a:b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1.Vinayak </a:t>
            </a:r>
            <a:r>
              <a:rPr lang="en-IN" sz="1600" b="1" dirty="0" err="1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Nagelli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&amp;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Roll No. 43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2. 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Pratik </a:t>
            </a:r>
            <a:r>
              <a:rPr lang="en-IN" sz="1600" b="1" dirty="0" err="1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Pasafule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 &amp;</a:t>
            </a: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Roll No. 45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  <a:t>Class : TY Sem.-II</a:t>
            </a:r>
            <a:br>
              <a:rPr lang="en-IN" sz="1600" b="1" dirty="0">
                <a:solidFill>
                  <a:srgbClr val="800000"/>
                </a:solidFill>
                <a:latin typeface="Bookman Old Style"/>
                <a:ea typeface="Bookman Old Style"/>
                <a:cs typeface="Times New Roman" pitchFamily="18" charset="0"/>
                <a:sym typeface="Bookman Old Style"/>
              </a:rPr>
            </a:br>
            <a:br>
              <a:rPr lang="en-IN" sz="1600" dirty="0">
                <a:solidFill>
                  <a:srgbClr val="7030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Under the guidance of</a:t>
            </a:r>
            <a:br>
              <a:rPr lang="en-IN" sz="1600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IN" sz="2400" b="1" dirty="0">
                <a:solidFill>
                  <a:srgbClr val="800000"/>
                </a:solidFill>
                <a:latin typeface="Bookman Old Style" pitchFamily="18" charset="0"/>
                <a:ea typeface="Bookman Old Style"/>
                <a:cs typeface="Times New Roman" pitchFamily="18" charset="0"/>
                <a:sym typeface="Bookman Old Style"/>
              </a:rPr>
              <a:t>Prof. V. D. Gaikwad</a:t>
            </a:r>
            <a:br>
              <a:rPr lang="en-IN" sz="2400" b="1" dirty="0">
                <a:solidFill>
                  <a:srgbClr val="800000"/>
                </a:solidFill>
                <a:latin typeface="Bookman Old Style" pitchFamily="18" charset="0"/>
                <a:ea typeface="Bookman Old Style"/>
                <a:cs typeface="Times New Roman" pitchFamily="18" charset="0"/>
                <a:sym typeface="Bookman Old Style"/>
              </a:rPr>
            </a:br>
            <a:endParaRPr lang="en-IN" sz="2400" b="1" dirty="0">
              <a:solidFill>
                <a:srgbClr val="800000"/>
              </a:solidFill>
              <a:latin typeface="Bookman Old Style" pitchFamily="18" charset="0"/>
              <a:ea typeface="Bookman Old Style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3638550"/>
            <a:ext cx="8839200" cy="1066800"/>
          </a:xfrm>
        </p:spPr>
        <p:txBody>
          <a:bodyPr>
            <a:noAutofit/>
          </a:bodyPr>
          <a:lstStyle/>
          <a:p>
            <a:pPr lvl="0"/>
            <a:r>
              <a:rPr lang="en-US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Computer Science &amp; Engineering</a:t>
            </a:r>
            <a:endParaRPr lang="en-IN" sz="18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lvl="0"/>
            <a:r>
              <a:rPr lang="en-IN" sz="18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N.K. Orchid College of Engineering &amp; Technology, Solapur.</a:t>
            </a:r>
            <a:endParaRPr lang="en-IN" sz="1400" b="1" dirty="0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lvl="0"/>
            <a:r>
              <a:rPr lang="en-IN" sz="1400" b="1" dirty="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2025-26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5750"/>
            <a:ext cx="1257300" cy="12573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8183196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7EAF87DF-43D6-033B-E5E6-836EFD1AAD10}"/>
              </a:ext>
            </a:extLst>
          </p:cNvPr>
          <p:cNvSpPr/>
          <p:nvPr/>
        </p:nvSpPr>
        <p:spPr>
          <a:xfrm>
            <a:off x="381000" y="261366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D818649E-290C-66E9-D1EF-9CD7CD54CC5D}"/>
              </a:ext>
            </a:extLst>
          </p:cNvPr>
          <p:cNvSpPr/>
          <p:nvPr/>
        </p:nvSpPr>
        <p:spPr>
          <a:xfrm>
            <a:off x="536448" y="22479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57A56F7-3426-E689-9372-C1254E70E4CD}"/>
              </a:ext>
            </a:extLst>
          </p:cNvPr>
          <p:cNvSpPr/>
          <p:nvPr/>
        </p:nvSpPr>
        <p:spPr>
          <a:xfrm>
            <a:off x="411480" y="98755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8A12B5DD-F60D-0B17-AF09-575E6EAD3EC9}"/>
              </a:ext>
            </a:extLst>
          </p:cNvPr>
          <p:cNvSpPr/>
          <p:nvPr/>
        </p:nvSpPr>
        <p:spPr>
          <a:xfrm>
            <a:off x="411480" y="98755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ECA2047-277A-1BB2-8628-194EF0507E00}"/>
              </a:ext>
            </a:extLst>
          </p:cNvPr>
          <p:cNvSpPr/>
          <p:nvPr/>
        </p:nvSpPr>
        <p:spPr>
          <a:xfrm>
            <a:off x="411480" y="98755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DE43639-609C-B11E-757C-3EEAE22354BC}"/>
              </a:ext>
            </a:extLst>
          </p:cNvPr>
          <p:cNvSpPr/>
          <p:nvPr/>
        </p:nvSpPr>
        <p:spPr>
          <a:xfrm>
            <a:off x="1005840" y="10789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F32CCE1-3D5C-9748-7D8E-9C4DF9D440EF}"/>
              </a:ext>
            </a:extLst>
          </p:cNvPr>
          <p:cNvSpPr/>
          <p:nvPr/>
        </p:nvSpPr>
        <p:spPr>
          <a:xfrm>
            <a:off x="1005840" y="15179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solution overview</a:t>
            </a:r>
            <a:endParaRPr lang="en-US" sz="12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2D4FB749-2C33-3929-B3A4-B73D25295685}"/>
              </a:ext>
            </a:extLst>
          </p:cNvPr>
          <p:cNvSpPr/>
          <p:nvPr/>
        </p:nvSpPr>
        <p:spPr>
          <a:xfrm>
            <a:off x="4800600" y="98755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9FF3229C-65CA-AA17-57CE-DCFC63254F08}"/>
              </a:ext>
            </a:extLst>
          </p:cNvPr>
          <p:cNvSpPr/>
          <p:nvPr/>
        </p:nvSpPr>
        <p:spPr>
          <a:xfrm>
            <a:off x="4800600" y="98755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8BE2748-8893-C3A5-A848-7407934A9C6E}"/>
              </a:ext>
            </a:extLst>
          </p:cNvPr>
          <p:cNvSpPr/>
          <p:nvPr/>
        </p:nvSpPr>
        <p:spPr>
          <a:xfrm>
            <a:off x="4800600" y="98755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940E962D-6D27-0349-620B-EB947621493A}"/>
              </a:ext>
            </a:extLst>
          </p:cNvPr>
          <p:cNvSpPr/>
          <p:nvPr/>
        </p:nvSpPr>
        <p:spPr>
          <a:xfrm>
            <a:off x="5394960" y="107899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A579EF65-BDD9-999D-EF86-11A4E2ED46C9}"/>
              </a:ext>
            </a:extLst>
          </p:cNvPr>
          <p:cNvSpPr/>
          <p:nvPr/>
        </p:nvSpPr>
        <p:spPr>
          <a:xfrm>
            <a:off x="5394960" y="15179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technical targets</a:t>
            </a:r>
            <a:endParaRPr lang="en-US" sz="12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3B5C0AD5-9BD6-C871-11AA-2F1B232F60CA}"/>
              </a:ext>
            </a:extLst>
          </p:cNvPr>
          <p:cNvSpPr/>
          <p:nvPr/>
        </p:nvSpPr>
        <p:spPr>
          <a:xfrm>
            <a:off x="411480" y="222199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406196E4-8982-9F9F-A4A0-8D1286E2C69E}"/>
              </a:ext>
            </a:extLst>
          </p:cNvPr>
          <p:cNvSpPr/>
          <p:nvPr/>
        </p:nvSpPr>
        <p:spPr>
          <a:xfrm>
            <a:off x="411480" y="222199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6F12CDAB-2DE4-0D88-A839-A996FF8CB3C5}"/>
              </a:ext>
            </a:extLst>
          </p:cNvPr>
          <p:cNvSpPr/>
          <p:nvPr/>
        </p:nvSpPr>
        <p:spPr>
          <a:xfrm>
            <a:off x="411480" y="222199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A2B01B85-89A4-9AC5-4859-AE307BEDEE4F}"/>
              </a:ext>
            </a:extLst>
          </p:cNvPr>
          <p:cNvSpPr/>
          <p:nvPr/>
        </p:nvSpPr>
        <p:spPr>
          <a:xfrm>
            <a:off x="1005840" y="23134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Project Flow</a:t>
            </a:r>
            <a:endParaRPr lang="en-US" sz="13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5DEE4014-5D06-1E6E-B252-E8CC63794506}"/>
              </a:ext>
            </a:extLst>
          </p:cNvPr>
          <p:cNvSpPr/>
          <p:nvPr/>
        </p:nvSpPr>
        <p:spPr>
          <a:xfrm>
            <a:off x="1005840" y="27523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execution pipeline</a:t>
            </a:r>
            <a:endParaRPr lang="en-US" sz="12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7F2F2A74-039F-91F8-2BCD-3B2504EF7DD6}"/>
              </a:ext>
            </a:extLst>
          </p:cNvPr>
          <p:cNvSpPr/>
          <p:nvPr/>
        </p:nvSpPr>
        <p:spPr>
          <a:xfrm>
            <a:off x="4800600" y="222199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3F7E56DE-A730-B804-BC9C-3B20DD3708D1}"/>
              </a:ext>
            </a:extLst>
          </p:cNvPr>
          <p:cNvSpPr/>
          <p:nvPr/>
        </p:nvSpPr>
        <p:spPr>
          <a:xfrm>
            <a:off x="4800600" y="222199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AAF16B89-9470-E0D1-523D-A0DF3F9FCB5D}"/>
              </a:ext>
            </a:extLst>
          </p:cNvPr>
          <p:cNvSpPr/>
          <p:nvPr/>
        </p:nvSpPr>
        <p:spPr>
          <a:xfrm>
            <a:off x="4800600" y="222199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42C56C0F-BC79-FA10-DA78-9F69012F9F1E}"/>
              </a:ext>
            </a:extLst>
          </p:cNvPr>
          <p:cNvSpPr/>
          <p:nvPr/>
        </p:nvSpPr>
        <p:spPr>
          <a:xfrm>
            <a:off x="5394960" y="23134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5AAE3C86-4E31-881F-4214-15DFA5CF4E61}"/>
              </a:ext>
            </a:extLst>
          </p:cNvPr>
          <p:cNvSpPr/>
          <p:nvPr/>
        </p:nvSpPr>
        <p:spPr>
          <a:xfrm>
            <a:off x="5394960" y="27523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results</a:t>
            </a:r>
            <a:endParaRPr lang="en-US" sz="1200" dirty="0"/>
          </a:p>
        </p:txBody>
      </p:sp>
      <p:sp>
        <p:nvSpPr>
          <p:cNvPr id="33" name="Shape 22">
            <a:extLst>
              <a:ext uri="{FF2B5EF4-FFF2-40B4-BE49-F238E27FC236}">
                <a16:creationId xmlns:a16="http://schemas.microsoft.com/office/drawing/2014/main" id="{044335E4-0B59-1000-4335-6DD714F4E404}"/>
              </a:ext>
            </a:extLst>
          </p:cNvPr>
          <p:cNvSpPr/>
          <p:nvPr/>
        </p:nvSpPr>
        <p:spPr>
          <a:xfrm>
            <a:off x="411480" y="345643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3">
            <a:extLst>
              <a:ext uri="{FF2B5EF4-FFF2-40B4-BE49-F238E27FC236}">
                <a16:creationId xmlns:a16="http://schemas.microsoft.com/office/drawing/2014/main" id="{ED9A6316-A223-53EB-935E-C746C0F3CE53}"/>
              </a:ext>
            </a:extLst>
          </p:cNvPr>
          <p:cNvSpPr/>
          <p:nvPr/>
        </p:nvSpPr>
        <p:spPr>
          <a:xfrm>
            <a:off x="411480" y="345643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92FEB00D-4E37-3108-3B05-0878CE847C8A}"/>
              </a:ext>
            </a:extLst>
          </p:cNvPr>
          <p:cNvSpPr/>
          <p:nvPr/>
        </p:nvSpPr>
        <p:spPr>
          <a:xfrm>
            <a:off x="411480" y="345643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22D1A13E-9DBD-B6B4-174E-A1A997E5E778}"/>
              </a:ext>
            </a:extLst>
          </p:cNvPr>
          <p:cNvSpPr/>
          <p:nvPr/>
        </p:nvSpPr>
        <p:spPr>
          <a:xfrm>
            <a:off x="1005840" y="3547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A5109A51-B12F-4CA6-AE4C-5A1ABEF22A15}"/>
              </a:ext>
            </a:extLst>
          </p:cNvPr>
          <p:cNvSpPr/>
          <p:nvPr/>
        </p:nvSpPr>
        <p:spPr>
          <a:xfrm>
            <a:off x="1005840" y="39867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200" dirty="0"/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6C9870EB-C76F-87B0-D98E-DCD0029F5B95}"/>
              </a:ext>
            </a:extLst>
          </p:cNvPr>
          <p:cNvSpPr/>
          <p:nvPr/>
        </p:nvSpPr>
        <p:spPr>
          <a:xfrm>
            <a:off x="4800600" y="3456432"/>
            <a:ext cx="4160520" cy="10058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28">
            <a:extLst>
              <a:ext uri="{FF2B5EF4-FFF2-40B4-BE49-F238E27FC236}">
                <a16:creationId xmlns:a16="http://schemas.microsoft.com/office/drawing/2014/main" id="{8766CD00-52A5-B439-91CB-C0A87E43582C}"/>
              </a:ext>
            </a:extLst>
          </p:cNvPr>
          <p:cNvSpPr/>
          <p:nvPr/>
        </p:nvSpPr>
        <p:spPr>
          <a:xfrm>
            <a:off x="4800600" y="3456432"/>
            <a:ext cx="502920" cy="100584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B5C33EE7-091F-297E-5BA8-7A5407A6D4AD}"/>
              </a:ext>
            </a:extLst>
          </p:cNvPr>
          <p:cNvSpPr/>
          <p:nvPr/>
        </p:nvSpPr>
        <p:spPr>
          <a:xfrm>
            <a:off x="4800600" y="345643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770EDA57-0241-C99E-92ED-D05944104342}"/>
              </a:ext>
            </a:extLst>
          </p:cNvPr>
          <p:cNvSpPr/>
          <p:nvPr/>
        </p:nvSpPr>
        <p:spPr>
          <a:xfrm>
            <a:off x="5394960" y="3547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61657932-4CF2-8469-A520-9F740A3FB403}"/>
              </a:ext>
            </a:extLst>
          </p:cNvPr>
          <p:cNvSpPr/>
          <p:nvPr/>
        </p:nvSpPr>
        <p:spPr>
          <a:xfrm>
            <a:off x="5394960" y="39867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documentation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49115374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Date Placeholder 3"/>
          <p:cNvSpPr txBox="1">
            <a:spLocks/>
          </p:cNvSpPr>
          <p:nvPr/>
        </p:nvSpPr>
        <p:spPr>
          <a:xfrm>
            <a:off x="685800" y="4912895"/>
            <a:ext cx="1676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25/04/2026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08CDD48-7BA4-EEEC-A4F1-582F2605FB78}"/>
              </a:ext>
            </a:extLst>
          </p:cNvPr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9ECE209-5761-1347-0DD6-D881FF93F52D}"/>
              </a:ext>
            </a:extLst>
          </p:cNvPr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12080F1-803E-5BC1-31D6-73CC5DF6D39D}"/>
              </a:ext>
            </a:extLst>
          </p:cNvPr>
          <p:cNvSpPr/>
          <p:nvPr/>
        </p:nvSpPr>
        <p:spPr>
          <a:xfrm>
            <a:off x="411480" y="960120"/>
            <a:ext cx="3931920" cy="365760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66F40A7-A55F-0A3D-2C59-3B79AB9DFF8C}"/>
              </a:ext>
            </a:extLst>
          </p:cNvPr>
          <p:cNvSpPr/>
          <p:nvPr/>
        </p:nvSpPr>
        <p:spPr>
          <a:xfrm>
            <a:off x="475488" y="1014984"/>
            <a:ext cx="3712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5BBB85AB-3F30-930F-75FA-00EB988D8BD2}"/>
              </a:ext>
            </a:extLst>
          </p:cNvPr>
          <p:cNvSpPr/>
          <p:nvPr/>
        </p:nvSpPr>
        <p:spPr>
          <a:xfrm>
            <a:off x="502920" y="1463040"/>
            <a:ext cx="3749040" cy="274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8E99B1B-EBED-CDCD-463E-36B9A5C8FD23}"/>
              </a:ext>
            </a:extLst>
          </p:cNvPr>
          <p:cNvSpPr/>
          <p:nvPr/>
        </p:nvSpPr>
        <p:spPr>
          <a:xfrm>
            <a:off x="502920" y="15727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waste excessive time manually navigating multiple food delivery apps (Swiggy, Zomato), comparing prices, and repetitively applying filters for location, diet, and budget — a frustrating and inefficient daily task.</a:t>
            </a:r>
            <a:endParaRPr lang="en-US" sz="14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7A5FDC1-94D4-F733-2DA9-34594BBCC23C}"/>
              </a:ext>
            </a:extLst>
          </p:cNvPr>
          <p:cNvSpPr/>
          <p:nvPr/>
        </p:nvSpPr>
        <p:spPr>
          <a:xfrm>
            <a:off x="502920" y="3035808"/>
            <a:ext cx="3749040" cy="384048"/>
          </a:xfrm>
          <a:prstGeom prst="rect">
            <a:avLst/>
          </a:prstGeom>
          <a:solidFill>
            <a:srgbClr val="600000">
              <a:alpha val="80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17ABDC7-83A0-D166-E254-FE60917E145F}"/>
              </a:ext>
            </a:extLst>
          </p:cNvPr>
          <p:cNvSpPr/>
          <p:nvPr/>
        </p:nvSpPr>
        <p:spPr>
          <a:xfrm>
            <a:off x="566928" y="3035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Multiple apps, no single view</a:t>
            </a:r>
            <a:endParaRPr lang="en-US" sz="14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B63044A-E75B-47FE-A804-E78E6D9BBC9A}"/>
              </a:ext>
            </a:extLst>
          </p:cNvPr>
          <p:cNvSpPr/>
          <p:nvPr/>
        </p:nvSpPr>
        <p:spPr>
          <a:xfrm>
            <a:off x="502920" y="3493008"/>
            <a:ext cx="3749040" cy="384048"/>
          </a:xfrm>
          <a:prstGeom prst="rect">
            <a:avLst/>
          </a:prstGeom>
          <a:solidFill>
            <a:srgbClr val="600000">
              <a:alpha val="80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3AA2220A-5AA2-D08A-58F9-1047DB06FE96}"/>
              </a:ext>
            </a:extLst>
          </p:cNvPr>
          <p:cNvSpPr/>
          <p:nvPr/>
        </p:nvSpPr>
        <p:spPr>
          <a:xfrm>
            <a:off x="566928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price comparison</a:t>
            </a:r>
            <a:endParaRPr lang="en-US" sz="140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0988230-09DA-2784-3F74-8717709D5C42}"/>
              </a:ext>
            </a:extLst>
          </p:cNvPr>
          <p:cNvSpPr/>
          <p:nvPr/>
        </p:nvSpPr>
        <p:spPr>
          <a:xfrm>
            <a:off x="502920" y="3950208"/>
            <a:ext cx="3749040" cy="384048"/>
          </a:xfrm>
          <a:prstGeom prst="rect">
            <a:avLst/>
          </a:prstGeom>
          <a:solidFill>
            <a:srgbClr val="600000">
              <a:alpha val="80000"/>
            </a:srgbClr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54FFBED1-2F02-EC9F-6C7F-3F1D4113E4A8}"/>
              </a:ext>
            </a:extLst>
          </p:cNvPr>
          <p:cNvSpPr/>
          <p:nvPr/>
        </p:nvSpPr>
        <p:spPr>
          <a:xfrm>
            <a:off x="566928" y="3950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Repetitive filter setup every time</a:t>
            </a:r>
            <a:endParaRPr lang="en-US" sz="14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AE185F85-D722-AACD-E6C4-DB7EF191B196}"/>
              </a:ext>
            </a:extLst>
          </p:cNvPr>
          <p:cNvSpPr/>
          <p:nvPr/>
        </p:nvSpPr>
        <p:spPr>
          <a:xfrm>
            <a:off x="4617720" y="960120"/>
            <a:ext cx="4114800" cy="3657600"/>
          </a:xfrm>
          <a:prstGeom prst="rect">
            <a:avLst/>
          </a:prstGeom>
          <a:solidFill>
            <a:srgbClr val="FFFBF0"/>
          </a:solidFill>
          <a:ln w="1905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A1F6472E-98A7-77B2-D63D-3A795FD2843D}"/>
              </a:ext>
            </a:extLst>
          </p:cNvPr>
          <p:cNvSpPr/>
          <p:nvPr/>
        </p:nvSpPr>
        <p:spPr>
          <a:xfrm>
            <a:off x="4617720" y="960120"/>
            <a:ext cx="411480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055468B0-D16B-411D-3738-B43DD725F719}"/>
              </a:ext>
            </a:extLst>
          </p:cNvPr>
          <p:cNvSpPr/>
          <p:nvPr/>
        </p:nvSpPr>
        <p:spPr>
          <a:xfrm>
            <a:off x="4663440" y="960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D3290613-DC80-2F7A-A80D-BF916E5EA23E}"/>
              </a:ext>
            </a:extLst>
          </p:cNvPr>
          <p:cNvSpPr/>
          <p:nvPr/>
        </p:nvSpPr>
        <p:spPr>
          <a:xfrm>
            <a:off x="4709160" y="153619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>
              <a:solidFill>
                <a:srgbClr val="2C100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Agent AI is an intent-driven autonomous AI agent powered by LLMs and headless browser automation.</a:t>
            </a:r>
            <a:endParaRPr lang="en-US" sz="1400" dirty="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929A5496-F267-514A-7397-51A961570AA8}"/>
              </a:ext>
            </a:extLst>
          </p:cNvPr>
          <p:cNvSpPr/>
          <p:nvPr/>
        </p:nvSpPr>
        <p:spPr>
          <a:xfrm>
            <a:off x="4663440" y="247726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726428EA-8102-0435-8FB9-E71198E3BEAC}"/>
              </a:ext>
            </a:extLst>
          </p:cNvPr>
          <p:cNvSpPr/>
          <p:nvPr/>
        </p:nvSpPr>
        <p:spPr>
          <a:xfrm>
            <a:off x="4663440" y="247726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B8B4D7F9-2618-A565-A0ED-849E293CADDB}"/>
              </a:ext>
            </a:extLst>
          </p:cNvPr>
          <p:cNvSpPr/>
          <p:nvPr/>
        </p:nvSpPr>
        <p:spPr>
          <a:xfrm>
            <a:off x="4663440" y="247726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DA0664C8-A862-0AE9-8710-8F4B5E2650EB}"/>
              </a:ext>
            </a:extLst>
          </p:cNvPr>
          <p:cNvSpPr/>
          <p:nvPr/>
        </p:nvSpPr>
        <p:spPr>
          <a:xfrm>
            <a:off x="5029200" y="247726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Input</a:t>
            </a:r>
            <a:endParaRPr lang="en-US" sz="1400" dirty="0"/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19AF1769-5E44-752D-DA74-B59865787600}"/>
              </a:ext>
            </a:extLst>
          </p:cNvPr>
          <p:cNvSpPr/>
          <p:nvPr/>
        </p:nvSpPr>
        <p:spPr>
          <a:xfrm>
            <a:off x="5029200" y="267843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types: "Find Veg Biryani under ₹300"</a:t>
            </a:r>
            <a:endParaRPr lang="en-US" sz="140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22398D29-141F-E086-B572-A91C335F4683}"/>
              </a:ext>
            </a:extLst>
          </p:cNvPr>
          <p:cNvSpPr/>
          <p:nvPr/>
        </p:nvSpPr>
        <p:spPr>
          <a:xfrm>
            <a:off x="4663440" y="301066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5F0A81B7-BA30-4CF5-56AE-DE9ED2227B5C}"/>
              </a:ext>
            </a:extLst>
          </p:cNvPr>
          <p:cNvSpPr/>
          <p:nvPr/>
        </p:nvSpPr>
        <p:spPr>
          <a:xfrm>
            <a:off x="4663440" y="301066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4B8A9A81-5783-0BC4-CA77-D4B8264FC519}"/>
              </a:ext>
            </a:extLst>
          </p:cNvPr>
          <p:cNvSpPr/>
          <p:nvPr/>
        </p:nvSpPr>
        <p:spPr>
          <a:xfrm>
            <a:off x="4663440" y="301066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B5F008D6-4B99-BF32-854A-BD482DC3BD71}"/>
              </a:ext>
            </a:extLst>
          </p:cNvPr>
          <p:cNvSpPr/>
          <p:nvPr/>
        </p:nvSpPr>
        <p:spPr>
          <a:xfrm>
            <a:off x="5029200" y="301066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Understands Intent</a:t>
            </a:r>
            <a:endParaRPr lang="en-US" sz="1400" dirty="0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FB3546E6-67E9-628B-F14D-0A0F7A1C0AA5}"/>
              </a:ext>
            </a:extLst>
          </p:cNvPr>
          <p:cNvSpPr/>
          <p:nvPr/>
        </p:nvSpPr>
        <p:spPr>
          <a:xfrm>
            <a:off x="5029200" y="321183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parses prompt + user profile</a:t>
            </a:r>
            <a:endParaRPr lang="en-US" sz="1400" dirty="0"/>
          </a:p>
        </p:txBody>
      </p:sp>
      <p:sp>
        <p:nvSpPr>
          <p:cNvPr id="36" name="Shape 26">
            <a:extLst>
              <a:ext uri="{FF2B5EF4-FFF2-40B4-BE49-F238E27FC236}">
                <a16:creationId xmlns:a16="http://schemas.microsoft.com/office/drawing/2014/main" id="{C025BEF6-2A2E-44FE-566C-91498871DAC5}"/>
              </a:ext>
            </a:extLst>
          </p:cNvPr>
          <p:cNvSpPr/>
          <p:nvPr/>
        </p:nvSpPr>
        <p:spPr>
          <a:xfrm>
            <a:off x="4663440" y="354406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B35E1BC8-D371-6A91-84FE-3385685FB527}"/>
              </a:ext>
            </a:extLst>
          </p:cNvPr>
          <p:cNvSpPr/>
          <p:nvPr/>
        </p:nvSpPr>
        <p:spPr>
          <a:xfrm>
            <a:off x="4663440" y="354406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8" name="Text 28">
            <a:extLst>
              <a:ext uri="{FF2B5EF4-FFF2-40B4-BE49-F238E27FC236}">
                <a16:creationId xmlns:a16="http://schemas.microsoft.com/office/drawing/2014/main" id="{38BEE7B8-CC01-BC01-2B8A-D635487E0ED5}"/>
              </a:ext>
            </a:extLst>
          </p:cNvPr>
          <p:cNvSpPr/>
          <p:nvPr/>
        </p:nvSpPr>
        <p:spPr>
          <a:xfrm>
            <a:off x="4663440" y="354406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3</a:t>
            </a:r>
            <a:endParaRPr lang="en-US" sz="1400" dirty="0"/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3E9E3F4D-450C-1D92-FF6B-8712F22EC361}"/>
              </a:ext>
            </a:extLst>
          </p:cNvPr>
          <p:cNvSpPr/>
          <p:nvPr/>
        </p:nvSpPr>
        <p:spPr>
          <a:xfrm>
            <a:off x="5029200" y="354406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Execution</a:t>
            </a:r>
            <a:endParaRPr lang="en-US" sz="1400" dirty="0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3D7F14E8-A85A-D38E-8887-574BE290BBB6}"/>
              </a:ext>
            </a:extLst>
          </p:cNvPr>
          <p:cNvSpPr/>
          <p:nvPr/>
        </p:nvSpPr>
        <p:spPr>
          <a:xfrm>
            <a:off x="5029200" y="374523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browses Swiggy &amp; Zomato in parallel</a:t>
            </a:r>
            <a:endParaRPr lang="en-US" sz="1400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F033122F-F383-FFBA-AB90-6D04C7715B8D}"/>
              </a:ext>
            </a:extLst>
          </p:cNvPr>
          <p:cNvSpPr/>
          <p:nvPr/>
        </p:nvSpPr>
        <p:spPr>
          <a:xfrm>
            <a:off x="4663440" y="4077462"/>
            <a:ext cx="3977640" cy="475488"/>
          </a:xfrm>
          <a:prstGeom prst="rect">
            <a:avLst/>
          </a:prstGeom>
          <a:solidFill>
            <a:srgbClr val="FDF5E0"/>
          </a:solidFill>
          <a:ln w="10160">
            <a:solidFill>
              <a:srgbClr val="E0C080"/>
            </a:solidFill>
            <a:prstDash val="solid"/>
          </a:ln>
        </p:spPr>
      </p:sp>
      <p:sp>
        <p:nvSpPr>
          <p:cNvPr id="42" name="Shape 32">
            <a:extLst>
              <a:ext uri="{FF2B5EF4-FFF2-40B4-BE49-F238E27FC236}">
                <a16:creationId xmlns:a16="http://schemas.microsoft.com/office/drawing/2014/main" id="{61ED8D5C-943D-1FC7-8E48-5995CE02585F}"/>
              </a:ext>
            </a:extLst>
          </p:cNvPr>
          <p:cNvSpPr/>
          <p:nvPr/>
        </p:nvSpPr>
        <p:spPr>
          <a:xfrm>
            <a:off x="4663440" y="4077462"/>
            <a:ext cx="292608" cy="47548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43" name="Text 33">
            <a:extLst>
              <a:ext uri="{FF2B5EF4-FFF2-40B4-BE49-F238E27FC236}">
                <a16:creationId xmlns:a16="http://schemas.microsoft.com/office/drawing/2014/main" id="{6F7E5C1D-D753-0F31-F9D7-CB6D623A07C2}"/>
              </a:ext>
            </a:extLst>
          </p:cNvPr>
          <p:cNvSpPr/>
          <p:nvPr/>
        </p:nvSpPr>
        <p:spPr>
          <a:xfrm>
            <a:off x="4663440" y="407746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4</a:t>
            </a:r>
            <a:endParaRPr lang="en-US" sz="1400" dirty="0"/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B9A0156-26B3-5D98-2B00-235574FAF25E}"/>
              </a:ext>
            </a:extLst>
          </p:cNvPr>
          <p:cNvSpPr/>
          <p:nvPr/>
        </p:nvSpPr>
        <p:spPr>
          <a:xfrm>
            <a:off x="5029200" y="407746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Results</a:t>
            </a:r>
            <a:endParaRPr lang="en-US" sz="1400" dirty="0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B224F2F4-09DC-E17B-13F8-E20BF0A179A7}"/>
              </a:ext>
            </a:extLst>
          </p:cNvPr>
          <p:cNvSpPr/>
          <p:nvPr/>
        </p:nvSpPr>
        <p:spPr>
          <a:xfrm>
            <a:off x="5029200" y="427863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ranked by True Price, shown instantly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67501928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Date Placeholder 3"/>
          <p:cNvSpPr txBox="1">
            <a:spLocks/>
          </p:cNvSpPr>
          <p:nvPr/>
        </p:nvSpPr>
        <p:spPr>
          <a:xfrm>
            <a:off x="685800" y="4912895"/>
            <a:ext cx="1676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25/04/2026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3D290255-78AA-4ADC-FCE9-4ED89D77223C}"/>
              </a:ext>
            </a:extLst>
          </p:cNvPr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BABDF062-92B5-53BB-F0C2-1B027511778E}"/>
              </a:ext>
            </a:extLst>
          </p:cNvPr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41296AB3-43E8-02AA-6E2B-DC854F06B531}"/>
              </a:ext>
            </a:extLst>
          </p:cNvPr>
          <p:cNvSpPr/>
          <p:nvPr/>
        </p:nvSpPr>
        <p:spPr>
          <a:xfrm>
            <a:off x="213360" y="93268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E2ADD33B-6F8F-6765-DA85-BA8D91D95CB0}"/>
              </a:ext>
            </a:extLst>
          </p:cNvPr>
          <p:cNvSpPr/>
          <p:nvPr/>
        </p:nvSpPr>
        <p:spPr>
          <a:xfrm>
            <a:off x="213360" y="932688"/>
            <a:ext cx="283464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2B24185A-676A-45E4-CC56-E57E9CF9A84E}"/>
              </a:ext>
            </a:extLst>
          </p:cNvPr>
          <p:cNvSpPr/>
          <p:nvPr/>
        </p:nvSpPr>
        <p:spPr>
          <a:xfrm>
            <a:off x="304800" y="9692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>
              <a:solidFill>
                <a:srgbClr val="800000"/>
              </a:solidFill>
            </a:endParaRPr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4D98C5B1-B5EA-4875-4A8B-895E4F9D3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376" y="996696"/>
            <a:ext cx="292608" cy="292608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0585B2AA-5E08-ECC4-665B-DB8DEAB4A2AE}"/>
              </a:ext>
            </a:extLst>
          </p:cNvPr>
          <p:cNvSpPr/>
          <p:nvPr/>
        </p:nvSpPr>
        <p:spPr>
          <a:xfrm>
            <a:off x="323088" y="140817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Web Automation</a:t>
            </a:r>
            <a:endParaRPr lang="en-US" sz="13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9C90B27A-E4FF-7537-1C27-807887E34627}"/>
              </a:ext>
            </a:extLst>
          </p:cNvPr>
          <p:cNvSpPr/>
          <p:nvPr/>
        </p:nvSpPr>
        <p:spPr>
          <a:xfrm>
            <a:off x="323088" y="1847088"/>
            <a:ext cx="2615184" cy="20117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F2A03198-5060-915E-CAB1-CBAEE3E641FB}"/>
              </a:ext>
            </a:extLst>
          </p:cNvPr>
          <p:cNvSpPr/>
          <p:nvPr/>
        </p:nvSpPr>
        <p:spPr>
          <a:xfrm>
            <a:off x="323088" y="1901952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context-aware pipeline using the TinyFish SDK for autonomous headless browser control across food delivery platforms.</a:t>
            </a:r>
            <a:endParaRPr lang="en-US" sz="1050" dirty="0"/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E22F37DF-2F66-ECD0-B98A-47C6B2B2919F}"/>
              </a:ext>
            </a:extLst>
          </p:cNvPr>
          <p:cNvSpPr/>
          <p:nvPr/>
        </p:nvSpPr>
        <p:spPr>
          <a:xfrm>
            <a:off x="3139440" y="93268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8927AE4B-A454-F922-0A52-2B5285E5CA22}"/>
              </a:ext>
            </a:extLst>
          </p:cNvPr>
          <p:cNvSpPr/>
          <p:nvPr/>
        </p:nvSpPr>
        <p:spPr>
          <a:xfrm>
            <a:off x="3139440" y="932688"/>
            <a:ext cx="2834640" cy="438912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C4049E78-0B29-8F5A-4036-B3DBBAB725FB}"/>
              </a:ext>
            </a:extLst>
          </p:cNvPr>
          <p:cNvSpPr/>
          <p:nvPr/>
        </p:nvSpPr>
        <p:spPr>
          <a:xfrm>
            <a:off x="3230880" y="9692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>
              <a:solidFill>
                <a:srgbClr val="800000"/>
              </a:solidFill>
            </a:endParaRPr>
          </a:p>
        </p:txBody>
      </p:sp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94E236B3-BCF0-6C19-AD6D-A35C87A5C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456" y="996696"/>
            <a:ext cx="292608" cy="292608"/>
          </a:xfrm>
          <a:prstGeom prst="rect">
            <a:avLst/>
          </a:prstGeom>
        </p:spPr>
      </p:pic>
      <p:sp>
        <p:nvSpPr>
          <p:cNvPr id="48" name="Text 11">
            <a:extLst>
              <a:ext uri="{FF2B5EF4-FFF2-40B4-BE49-F238E27FC236}">
                <a16:creationId xmlns:a16="http://schemas.microsoft.com/office/drawing/2014/main" id="{A4804ADF-1F69-5A70-AD18-CA74E604EBFE}"/>
              </a:ext>
            </a:extLst>
          </p:cNvPr>
          <p:cNvSpPr/>
          <p:nvPr/>
        </p:nvSpPr>
        <p:spPr>
          <a:xfrm>
            <a:off x="3249168" y="140817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Injection via LLM</a:t>
            </a:r>
            <a:endParaRPr lang="en-US" sz="13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00C3FB2A-85CB-B8B9-BB84-AA9D677C00B3}"/>
              </a:ext>
            </a:extLst>
          </p:cNvPr>
          <p:cNvSpPr/>
          <p:nvPr/>
        </p:nvSpPr>
        <p:spPr>
          <a:xfrm>
            <a:off x="3249168" y="1847088"/>
            <a:ext cx="2615184" cy="20117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E266E545-9020-22C8-5DA1-C6A93FC23881}"/>
              </a:ext>
            </a:extLst>
          </p:cNvPr>
          <p:cNvSpPr/>
          <p:nvPr/>
        </p:nvSpPr>
        <p:spPr>
          <a:xfrm>
            <a:off x="3249168" y="1901952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natural language intents through LLaMA 3.3 70B (Groq API) to generate precise, machine-readable agent commands.</a:t>
            </a:r>
            <a:endParaRPr lang="en-US" sz="105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06401A86-C6BF-2539-AA2E-4F17F98F02AD}"/>
              </a:ext>
            </a:extLst>
          </p:cNvPr>
          <p:cNvSpPr/>
          <p:nvPr/>
        </p:nvSpPr>
        <p:spPr>
          <a:xfrm>
            <a:off x="6080760" y="93268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6269DD9E-166D-DFEE-D910-0057B9C34D81}"/>
              </a:ext>
            </a:extLst>
          </p:cNvPr>
          <p:cNvSpPr/>
          <p:nvPr/>
        </p:nvSpPr>
        <p:spPr>
          <a:xfrm>
            <a:off x="6080760" y="932688"/>
            <a:ext cx="2834640" cy="43891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67CDAC9C-C328-8A1F-F3B0-A3F96C51FA14}"/>
              </a:ext>
            </a:extLst>
          </p:cNvPr>
          <p:cNvSpPr/>
          <p:nvPr/>
        </p:nvSpPr>
        <p:spPr>
          <a:xfrm>
            <a:off x="6172200" y="9692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>
              <a:solidFill>
                <a:srgbClr val="800000"/>
              </a:solidFill>
            </a:endParaRPr>
          </a:p>
        </p:txBody>
      </p:sp>
      <p:pic>
        <p:nvPicPr>
          <p:cNvPr id="54" name="Image 2" descr="preencoded.png">
            <a:extLst>
              <a:ext uri="{FF2B5EF4-FFF2-40B4-BE49-F238E27FC236}">
                <a16:creationId xmlns:a16="http://schemas.microsoft.com/office/drawing/2014/main" id="{B89351B0-521F-E334-B0BE-C4FF4FD5E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76" y="996696"/>
            <a:ext cx="292608" cy="292608"/>
          </a:xfrm>
          <a:prstGeom prst="rect">
            <a:avLst/>
          </a:prstGeom>
        </p:spPr>
      </p:pic>
      <p:sp>
        <p:nvSpPr>
          <p:cNvPr id="55" name="Text 17">
            <a:extLst>
              <a:ext uri="{FF2B5EF4-FFF2-40B4-BE49-F238E27FC236}">
                <a16:creationId xmlns:a16="http://schemas.microsoft.com/office/drawing/2014/main" id="{BAE32558-40B5-252F-BBA8-634E821CAED1}"/>
              </a:ext>
            </a:extLst>
          </p:cNvPr>
          <p:cNvSpPr/>
          <p:nvPr/>
        </p:nvSpPr>
        <p:spPr>
          <a:xfrm>
            <a:off x="6190488" y="140817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Price Calculation</a:t>
            </a:r>
            <a:endParaRPr lang="en-US" sz="1300" dirty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293A6F64-DC12-90A4-DB67-EE1F01C0D0E1}"/>
              </a:ext>
            </a:extLst>
          </p:cNvPr>
          <p:cNvSpPr/>
          <p:nvPr/>
        </p:nvSpPr>
        <p:spPr>
          <a:xfrm>
            <a:off x="6190488" y="1847088"/>
            <a:ext cx="2615184" cy="20117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C34702C7-C81E-533F-BF12-903864264D78}"/>
              </a:ext>
            </a:extLst>
          </p:cNvPr>
          <p:cNvSpPr/>
          <p:nvPr/>
        </p:nvSpPr>
        <p:spPr>
          <a:xfrm>
            <a:off x="6190488" y="1901952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compare results after factoring in delivery charges, platform discounts, and applicable taxes for fair comparison.</a:t>
            </a:r>
            <a:endParaRPr lang="en-US" sz="1050" dirty="0"/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95104945-FDA3-1844-DE2B-FCE0E000512F}"/>
              </a:ext>
            </a:extLst>
          </p:cNvPr>
          <p:cNvSpPr/>
          <p:nvPr/>
        </p:nvSpPr>
        <p:spPr>
          <a:xfrm>
            <a:off x="213360" y="2834640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21">
            <a:extLst>
              <a:ext uri="{FF2B5EF4-FFF2-40B4-BE49-F238E27FC236}">
                <a16:creationId xmlns:a16="http://schemas.microsoft.com/office/drawing/2014/main" id="{DA289500-B10A-4085-F08B-A43C50DFB62B}"/>
              </a:ext>
            </a:extLst>
          </p:cNvPr>
          <p:cNvSpPr/>
          <p:nvPr/>
        </p:nvSpPr>
        <p:spPr>
          <a:xfrm>
            <a:off x="213360" y="2834640"/>
            <a:ext cx="2834640" cy="43891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EF2E1C2D-869B-8924-7DD1-07F1E0135C58}"/>
              </a:ext>
            </a:extLst>
          </p:cNvPr>
          <p:cNvSpPr/>
          <p:nvPr/>
        </p:nvSpPr>
        <p:spPr>
          <a:xfrm>
            <a:off x="304800" y="2871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pic>
        <p:nvPicPr>
          <p:cNvPr id="61" name="Image 3" descr="preencoded.png">
            <a:extLst>
              <a:ext uri="{FF2B5EF4-FFF2-40B4-BE49-F238E27FC236}">
                <a16:creationId xmlns:a16="http://schemas.microsoft.com/office/drawing/2014/main" id="{BFF4482B-4660-F62E-B183-A48A61086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376" y="2898648"/>
            <a:ext cx="292608" cy="292608"/>
          </a:xfrm>
          <a:prstGeom prst="rect">
            <a:avLst/>
          </a:prstGeom>
        </p:spPr>
      </p:pic>
      <p:sp>
        <p:nvSpPr>
          <p:cNvPr id="62" name="Text 23">
            <a:extLst>
              <a:ext uri="{FF2B5EF4-FFF2-40B4-BE49-F238E27FC236}">
                <a16:creationId xmlns:a16="http://schemas.microsoft.com/office/drawing/2014/main" id="{A86677D6-6825-60F1-D8E2-8CC8186F0F66}"/>
              </a:ext>
            </a:extLst>
          </p:cNvPr>
          <p:cNvSpPr/>
          <p:nvPr/>
        </p:nvSpPr>
        <p:spPr>
          <a:xfrm>
            <a:off x="323088" y="331012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User Profiling</a:t>
            </a:r>
            <a:endParaRPr lang="en-US" sz="1300" dirty="0">
              <a:solidFill>
                <a:srgbClr val="D4A017"/>
              </a:solidFill>
            </a:endParaRPr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4B7FDE9A-A7E6-1073-8C23-CF7D624842EB}"/>
              </a:ext>
            </a:extLst>
          </p:cNvPr>
          <p:cNvSpPr/>
          <p:nvPr/>
        </p:nvSpPr>
        <p:spPr>
          <a:xfrm>
            <a:off x="323088" y="3749040"/>
            <a:ext cx="2615184" cy="20117"/>
          </a:xfrm>
          <a:prstGeom prst="rect">
            <a:avLst/>
          </a:prstGeom>
          <a:solidFill>
            <a:srgbClr val="800000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007260C1-2E30-0D1D-4158-7409557066F2}"/>
              </a:ext>
            </a:extLst>
          </p:cNvPr>
          <p:cNvSpPr/>
          <p:nvPr/>
        </p:nvSpPr>
        <p:spPr>
          <a:xfrm>
            <a:off x="323088" y="3803904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MongoDB + JWT-based system storing user allergies, spice tolerance, delivery address, and budget preferences securely.</a:t>
            </a:r>
            <a:endParaRPr lang="en-US" sz="1050" dirty="0"/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D1DFE97B-FE8E-CF75-58C3-41BF7482B9D0}"/>
              </a:ext>
            </a:extLst>
          </p:cNvPr>
          <p:cNvSpPr/>
          <p:nvPr/>
        </p:nvSpPr>
        <p:spPr>
          <a:xfrm>
            <a:off x="3139440" y="2834640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3FDB4812-614D-0507-4049-9F76A37F224F}"/>
              </a:ext>
            </a:extLst>
          </p:cNvPr>
          <p:cNvSpPr/>
          <p:nvPr/>
        </p:nvSpPr>
        <p:spPr>
          <a:xfrm>
            <a:off x="3139440" y="2834640"/>
            <a:ext cx="2834640" cy="438912"/>
          </a:xfrm>
          <a:prstGeom prst="rect">
            <a:avLst/>
          </a:prstGeom>
          <a:solidFill>
            <a:srgbClr val="7A3500"/>
          </a:solidFill>
          <a:ln w="12700">
            <a:solidFill>
              <a:srgbClr val="7A3500"/>
            </a:solidFill>
            <a:prstDash val="solid"/>
          </a:ln>
        </p:spPr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1C8163B0-7EF6-73D4-63E4-E7E2E8A5EF2C}"/>
              </a:ext>
            </a:extLst>
          </p:cNvPr>
          <p:cNvSpPr/>
          <p:nvPr/>
        </p:nvSpPr>
        <p:spPr>
          <a:xfrm>
            <a:off x="3230880" y="2871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pic>
        <p:nvPicPr>
          <p:cNvPr id="68" name="Image 4" descr="preencoded.png">
            <a:extLst>
              <a:ext uri="{FF2B5EF4-FFF2-40B4-BE49-F238E27FC236}">
                <a16:creationId xmlns:a16="http://schemas.microsoft.com/office/drawing/2014/main" id="{2D8D565D-B882-E17A-49B1-EED8BF07C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3456" y="2898648"/>
            <a:ext cx="292608" cy="292608"/>
          </a:xfrm>
          <a:prstGeom prst="rect">
            <a:avLst/>
          </a:prstGeom>
        </p:spPr>
      </p:pic>
      <p:sp>
        <p:nvSpPr>
          <p:cNvPr id="69" name="Text 29">
            <a:extLst>
              <a:ext uri="{FF2B5EF4-FFF2-40B4-BE49-F238E27FC236}">
                <a16:creationId xmlns:a16="http://schemas.microsoft.com/office/drawing/2014/main" id="{46BF3558-8C35-FA42-9109-2B6D9ABE599C}"/>
              </a:ext>
            </a:extLst>
          </p:cNvPr>
          <p:cNvSpPr/>
          <p:nvPr/>
        </p:nvSpPr>
        <p:spPr>
          <a:xfrm>
            <a:off x="3249168" y="331012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Understanding</a:t>
            </a:r>
            <a:endParaRPr lang="en-US" sz="1300" dirty="0">
              <a:solidFill>
                <a:srgbClr val="D4A017"/>
              </a:solidFill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10E6CD24-713E-839A-F774-B748C862CB84}"/>
              </a:ext>
            </a:extLst>
          </p:cNvPr>
          <p:cNvSpPr/>
          <p:nvPr/>
        </p:nvSpPr>
        <p:spPr>
          <a:xfrm>
            <a:off x="3249168" y="3749040"/>
            <a:ext cx="2615184" cy="20117"/>
          </a:xfrm>
          <a:prstGeom prst="rect">
            <a:avLst/>
          </a:prstGeom>
          <a:solidFill>
            <a:srgbClr val="800000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50F326C6-B840-3782-6ED4-DEF41D9104B4}"/>
              </a:ext>
            </a:extLst>
          </p:cNvPr>
          <p:cNvSpPr/>
          <p:nvPr/>
        </p:nvSpPr>
        <p:spPr>
          <a:xfrm>
            <a:off x="3249168" y="3803904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vague, conversational food queries without any structured input, making the system accessible to all users.</a:t>
            </a:r>
            <a:endParaRPr lang="en-US" sz="1050" dirty="0"/>
          </a:p>
        </p:txBody>
      </p:sp>
      <p:sp>
        <p:nvSpPr>
          <p:cNvPr id="72" name="Shape 32">
            <a:extLst>
              <a:ext uri="{FF2B5EF4-FFF2-40B4-BE49-F238E27FC236}">
                <a16:creationId xmlns:a16="http://schemas.microsoft.com/office/drawing/2014/main" id="{4CA64A90-2B42-E0AF-911D-B8DB956C2231}"/>
              </a:ext>
            </a:extLst>
          </p:cNvPr>
          <p:cNvSpPr/>
          <p:nvPr/>
        </p:nvSpPr>
        <p:spPr>
          <a:xfrm>
            <a:off x="6080760" y="2834640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7577BDAD-2EC8-1ECB-5FA6-A18C87042CE2}"/>
              </a:ext>
            </a:extLst>
          </p:cNvPr>
          <p:cNvSpPr/>
          <p:nvPr/>
        </p:nvSpPr>
        <p:spPr>
          <a:xfrm>
            <a:off x="6080760" y="2834640"/>
            <a:ext cx="2834640" cy="438912"/>
          </a:xfrm>
          <a:prstGeom prst="rect">
            <a:avLst/>
          </a:prstGeom>
          <a:solidFill>
            <a:srgbClr val="5C1A00"/>
          </a:solidFill>
          <a:ln w="12700">
            <a:solidFill>
              <a:srgbClr val="5C1A00"/>
            </a:solidFill>
            <a:prstDash val="solid"/>
          </a:ln>
        </p:spPr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99428FCC-C6A1-6DC1-5DB6-ADCD7F5F41FD}"/>
              </a:ext>
            </a:extLst>
          </p:cNvPr>
          <p:cNvSpPr/>
          <p:nvPr/>
        </p:nvSpPr>
        <p:spPr>
          <a:xfrm>
            <a:off x="6172200" y="287121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pic>
        <p:nvPicPr>
          <p:cNvPr id="75" name="Image 5" descr="preencoded.png">
            <a:extLst>
              <a:ext uri="{FF2B5EF4-FFF2-40B4-BE49-F238E27FC236}">
                <a16:creationId xmlns:a16="http://schemas.microsoft.com/office/drawing/2014/main" id="{51C2B2F4-C34D-B248-059C-E38B0B1B2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2898648"/>
            <a:ext cx="292608" cy="292608"/>
          </a:xfrm>
          <a:prstGeom prst="rect">
            <a:avLst/>
          </a:prstGeom>
        </p:spPr>
      </p:pic>
      <p:sp>
        <p:nvSpPr>
          <p:cNvPr id="76" name="Text 35">
            <a:extLst>
              <a:ext uri="{FF2B5EF4-FFF2-40B4-BE49-F238E27FC236}">
                <a16:creationId xmlns:a16="http://schemas.microsoft.com/office/drawing/2014/main" id="{24B84437-BC63-F753-304E-1939F1C7EA7A}"/>
              </a:ext>
            </a:extLst>
          </p:cNvPr>
          <p:cNvSpPr/>
          <p:nvPr/>
        </p:nvSpPr>
        <p:spPr>
          <a:xfrm>
            <a:off x="6190488" y="331012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Manual Filtering</a:t>
            </a:r>
            <a:endParaRPr lang="en-US" sz="1300" dirty="0">
              <a:solidFill>
                <a:srgbClr val="D4A017"/>
              </a:solidFill>
            </a:endParaRPr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64CD9D49-F122-0E87-F247-2F5661297B8D}"/>
              </a:ext>
            </a:extLst>
          </p:cNvPr>
          <p:cNvSpPr/>
          <p:nvPr/>
        </p:nvSpPr>
        <p:spPr>
          <a:xfrm>
            <a:off x="6190488" y="3749040"/>
            <a:ext cx="2615184" cy="20117"/>
          </a:xfrm>
          <a:prstGeom prst="rect">
            <a:avLst/>
          </a:prstGeom>
          <a:solidFill>
            <a:srgbClr val="800000"/>
          </a:solidFill>
          <a:ln w="12700">
            <a:solidFill>
              <a:srgbClr val="800000"/>
            </a:solidFill>
            <a:prstDash val="solid"/>
          </a:ln>
        </p:spPr>
      </p:sp>
      <p:sp>
        <p:nvSpPr>
          <p:cNvPr id="78" name="Text 37">
            <a:extLst>
              <a:ext uri="{FF2B5EF4-FFF2-40B4-BE49-F238E27FC236}">
                <a16:creationId xmlns:a16="http://schemas.microsoft.com/office/drawing/2014/main" id="{205DF9C5-DB95-2D14-EC23-F3EA519DF129}"/>
              </a:ext>
            </a:extLst>
          </p:cNvPr>
          <p:cNvSpPr/>
          <p:nvPr/>
        </p:nvSpPr>
        <p:spPr>
          <a:xfrm>
            <a:off x="6190488" y="3803904"/>
            <a:ext cx="2633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repetitive setup of location, diet, and budget filters by automatically injecting user preferences into every request.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6978492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4">
            <a:extLst>
              <a:ext uri="{FF2B5EF4-FFF2-40B4-BE49-F238E27FC236}">
                <a16:creationId xmlns:a16="http://schemas.microsoft.com/office/drawing/2014/main" id="{43C03433-3B90-5171-5341-B982481982C0}"/>
              </a:ext>
            </a:extLst>
          </p:cNvPr>
          <p:cNvSpPr/>
          <p:nvPr/>
        </p:nvSpPr>
        <p:spPr>
          <a:xfrm flipV="1">
            <a:off x="1356360" y="1352548"/>
            <a:ext cx="678180" cy="1"/>
          </a:xfrm>
          <a:prstGeom prst="line">
            <a:avLst/>
          </a:prstGeom>
          <a:noFill/>
          <a:ln w="1905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8965A1E-2DC8-BAB3-E902-E285DAAB500A}"/>
              </a:ext>
            </a:extLst>
          </p:cNvPr>
          <p:cNvSpPr/>
          <p:nvPr/>
        </p:nvSpPr>
        <p:spPr>
          <a:xfrm>
            <a:off x="597408" y="806195"/>
            <a:ext cx="859536" cy="973073"/>
          </a:xfrm>
          <a:prstGeom prst="rect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1ED0F9-B188-ECEE-FE5D-A1382CF72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187973">
            <a:off x="2837608" y="4353507"/>
            <a:ext cx="975445" cy="21947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13BAAA58-DE35-8115-F7FC-2A8B9E32C554}"/>
              </a:ext>
            </a:extLst>
          </p:cNvPr>
          <p:cNvSpPr/>
          <p:nvPr/>
        </p:nvSpPr>
        <p:spPr>
          <a:xfrm>
            <a:off x="381000" y="169926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D1FD79C-5A67-C352-6E19-D13ACCC43F7D}"/>
              </a:ext>
            </a:extLst>
          </p:cNvPr>
          <p:cNvSpPr/>
          <p:nvPr/>
        </p:nvSpPr>
        <p:spPr>
          <a:xfrm>
            <a:off x="536448" y="13335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Project Flow</a:t>
            </a:r>
            <a:endParaRPr lang="en-US" sz="3200" dirty="0"/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07436260-939E-75C4-7498-2A85711CA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10590"/>
            <a:ext cx="548640" cy="54864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7A1366F-0DA0-9B25-F90C-9976150DD5D6}"/>
              </a:ext>
            </a:extLst>
          </p:cNvPr>
          <p:cNvSpPr/>
          <p:nvPr/>
        </p:nvSpPr>
        <p:spPr>
          <a:xfrm>
            <a:off x="524256" y="1477518"/>
            <a:ext cx="999744" cy="25603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7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2152B9C-D2CF-0341-33A5-0BDF246A8DBA}"/>
              </a:ext>
            </a:extLst>
          </p:cNvPr>
          <p:cNvSpPr/>
          <p:nvPr/>
        </p:nvSpPr>
        <p:spPr>
          <a:xfrm>
            <a:off x="1356360" y="1151382"/>
            <a:ext cx="705612" cy="10972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6B3A2A"/>
                </a:solidFill>
              </a:rPr>
              <a:t>Prompt</a:t>
            </a:r>
            <a:endParaRPr lang="en-US" sz="7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00ED351B-001E-8369-C54D-3291068CE157}"/>
              </a:ext>
            </a:extLst>
          </p:cNvPr>
          <p:cNvSpPr/>
          <p:nvPr/>
        </p:nvSpPr>
        <p:spPr>
          <a:xfrm>
            <a:off x="2034540" y="782574"/>
            <a:ext cx="1784604" cy="1018027"/>
          </a:xfrm>
          <a:prstGeom prst="rect">
            <a:avLst/>
          </a:prstGeom>
          <a:solidFill>
            <a:srgbClr val="7A0000"/>
          </a:solidFill>
          <a:ln w="1905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7" name="Image 1">
            <a:extLst>
              <a:ext uri="{FF2B5EF4-FFF2-40B4-BE49-F238E27FC236}">
                <a16:creationId xmlns:a16="http://schemas.microsoft.com/office/drawing/2014/main" id="{8DCA2EF5-C239-BB94-AFE8-65E759A11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852678"/>
            <a:ext cx="347472" cy="347472"/>
          </a:xfrm>
          <a:prstGeom prst="rect">
            <a:avLst/>
          </a:prstGeom>
        </p:spPr>
      </p:pic>
      <p:sp>
        <p:nvSpPr>
          <p:cNvPr id="18" name="Text 7">
            <a:extLst>
              <a:ext uri="{FF2B5EF4-FFF2-40B4-BE49-F238E27FC236}">
                <a16:creationId xmlns:a16="http://schemas.microsoft.com/office/drawing/2014/main" id="{41BEE78C-EE2E-CFE2-1651-847804F31CAB}"/>
              </a:ext>
            </a:extLst>
          </p:cNvPr>
          <p:cNvSpPr/>
          <p:nvPr/>
        </p:nvSpPr>
        <p:spPr>
          <a:xfrm>
            <a:off x="2034540" y="1123950"/>
            <a:ext cx="1784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A2B55BC-BEC6-82EC-9E66-441069495C96}"/>
              </a:ext>
            </a:extLst>
          </p:cNvPr>
          <p:cNvSpPr/>
          <p:nvPr/>
        </p:nvSpPr>
        <p:spPr>
          <a:xfrm>
            <a:off x="2034540" y="144094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TailwindCSS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Framer Motion</a:t>
            </a:r>
            <a:endParaRPr lang="en-US" sz="11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6E7A4B6-CA09-6D24-169E-E8B2B0C4C7D5}"/>
              </a:ext>
            </a:extLst>
          </p:cNvPr>
          <p:cNvSpPr/>
          <p:nvPr/>
        </p:nvSpPr>
        <p:spPr>
          <a:xfrm>
            <a:off x="3840480" y="1352550"/>
            <a:ext cx="502920" cy="0"/>
          </a:xfrm>
          <a:prstGeom prst="line">
            <a:avLst/>
          </a:prstGeom>
          <a:noFill/>
          <a:ln w="1905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39712710-37D5-DA2E-E61D-2D6C92EBA263}"/>
              </a:ext>
            </a:extLst>
          </p:cNvPr>
          <p:cNvSpPr/>
          <p:nvPr/>
        </p:nvSpPr>
        <p:spPr>
          <a:xfrm>
            <a:off x="3776472" y="104775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6B3A2A"/>
                </a:solidFill>
              </a:rPr>
              <a:t>REST API</a:t>
            </a:r>
            <a:endParaRPr lang="en-US" sz="105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61093FFB-2E62-93FE-87A6-1D6AF39084D1}"/>
              </a:ext>
            </a:extLst>
          </p:cNvPr>
          <p:cNvSpPr/>
          <p:nvPr/>
        </p:nvSpPr>
        <p:spPr>
          <a:xfrm>
            <a:off x="4351020" y="810011"/>
            <a:ext cx="1876044" cy="1018027"/>
          </a:xfrm>
          <a:prstGeom prst="rect">
            <a:avLst/>
          </a:prstGeom>
          <a:solidFill>
            <a:srgbClr val="1A4A7A"/>
          </a:solidFill>
          <a:ln w="1905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2">
            <a:extLst>
              <a:ext uri="{FF2B5EF4-FFF2-40B4-BE49-F238E27FC236}">
                <a16:creationId xmlns:a16="http://schemas.microsoft.com/office/drawing/2014/main" id="{01DC15A5-D6C7-8775-ADC8-F9D474CD6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6384" y="895350"/>
            <a:ext cx="329184" cy="329184"/>
          </a:xfrm>
          <a:prstGeom prst="rect">
            <a:avLst/>
          </a:prstGeom>
        </p:spPr>
      </p:pic>
      <p:sp>
        <p:nvSpPr>
          <p:cNvPr id="24" name="Text 12">
            <a:extLst>
              <a:ext uri="{FF2B5EF4-FFF2-40B4-BE49-F238E27FC236}">
                <a16:creationId xmlns:a16="http://schemas.microsoft.com/office/drawing/2014/main" id="{337A47BF-1F63-706B-92E8-093621CBA12E}"/>
              </a:ext>
            </a:extLst>
          </p:cNvPr>
          <p:cNvSpPr/>
          <p:nvPr/>
        </p:nvSpPr>
        <p:spPr>
          <a:xfrm>
            <a:off x="4364736" y="1230630"/>
            <a:ext cx="1848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Engine</a:t>
            </a:r>
            <a:endParaRPr lang="en-US" sz="14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71084DBC-1585-0CF8-93CB-DE26A2589472}"/>
              </a:ext>
            </a:extLst>
          </p:cNvPr>
          <p:cNvSpPr/>
          <p:nvPr/>
        </p:nvSpPr>
        <p:spPr>
          <a:xfrm>
            <a:off x="4450080" y="150495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Async</a:t>
            </a:r>
            <a:endParaRPr lang="en-US" sz="11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6E4A693C-99C6-7953-9A4C-0B6A8B4675CD}"/>
              </a:ext>
            </a:extLst>
          </p:cNvPr>
          <p:cNvSpPr/>
          <p:nvPr/>
        </p:nvSpPr>
        <p:spPr>
          <a:xfrm>
            <a:off x="6248400" y="1352550"/>
            <a:ext cx="457200" cy="0"/>
          </a:xfrm>
          <a:prstGeom prst="line">
            <a:avLst/>
          </a:prstGeom>
          <a:noFill/>
          <a:ln w="1905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A4DE711B-F829-33C9-E906-7FF8CDA5BF62}"/>
              </a:ext>
            </a:extLst>
          </p:cNvPr>
          <p:cNvSpPr/>
          <p:nvPr/>
        </p:nvSpPr>
        <p:spPr>
          <a:xfrm>
            <a:off x="6726936" y="782574"/>
            <a:ext cx="1680972" cy="1027177"/>
          </a:xfrm>
          <a:prstGeom prst="rect">
            <a:avLst/>
          </a:prstGeom>
          <a:solidFill>
            <a:srgbClr val="1A5C2A"/>
          </a:solidFill>
          <a:ln w="1905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3">
            <a:extLst>
              <a:ext uri="{FF2B5EF4-FFF2-40B4-BE49-F238E27FC236}">
                <a16:creationId xmlns:a16="http://schemas.microsoft.com/office/drawing/2014/main" id="{AC3BBC20-1FC6-B333-4335-4CF056F74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852680"/>
            <a:ext cx="271270" cy="271270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B298CE8C-CCA0-5273-48DD-CCD71DD5AAD4}"/>
              </a:ext>
            </a:extLst>
          </p:cNvPr>
          <p:cNvSpPr/>
          <p:nvPr/>
        </p:nvSpPr>
        <p:spPr>
          <a:xfrm>
            <a:off x="6705600" y="1123950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EFE9B891-68B1-2210-B179-1EE376D3CEB5}"/>
              </a:ext>
            </a:extLst>
          </p:cNvPr>
          <p:cNvSpPr/>
          <p:nvPr/>
        </p:nvSpPr>
        <p:spPr>
          <a:xfrm>
            <a:off x="6766560" y="145923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F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</a:t>
            </a:r>
            <a:endParaRPr lang="en-US" sz="11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CE27E1B3-A147-48B8-A1F3-F660CBFC892D}"/>
              </a:ext>
            </a:extLst>
          </p:cNvPr>
          <p:cNvSpPr/>
          <p:nvPr/>
        </p:nvSpPr>
        <p:spPr>
          <a:xfrm>
            <a:off x="5181600" y="1837182"/>
            <a:ext cx="0" cy="45720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D4F678C2-6AC1-A699-D36C-0220C729B884}"/>
              </a:ext>
            </a:extLst>
          </p:cNvPr>
          <p:cNvSpPr/>
          <p:nvPr/>
        </p:nvSpPr>
        <p:spPr>
          <a:xfrm>
            <a:off x="5181600" y="198958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6B3A2A"/>
                </a:solidFill>
              </a:rPr>
              <a:t>Prompt + Profile</a:t>
            </a:r>
            <a:endParaRPr lang="en-US" sz="1050" dirty="0"/>
          </a:p>
        </p:txBody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769BB0BD-3D22-9DBE-10F6-E66E9CC45042}"/>
              </a:ext>
            </a:extLst>
          </p:cNvPr>
          <p:cNvSpPr/>
          <p:nvPr/>
        </p:nvSpPr>
        <p:spPr>
          <a:xfrm>
            <a:off x="3726180" y="2294382"/>
            <a:ext cx="2827020" cy="914400"/>
          </a:xfrm>
          <a:prstGeom prst="rect">
            <a:avLst/>
          </a:prstGeom>
          <a:solidFill>
            <a:srgbClr val="006B6B"/>
          </a:solidFill>
          <a:ln w="254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4" name="Image 4">
            <a:extLst>
              <a:ext uri="{FF2B5EF4-FFF2-40B4-BE49-F238E27FC236}">
                <a16:creationId xmlns:a16="http://schemas.microsoft.com/office/drawing/2014/main" id="{DC43F484-617D-3C22-C274-4F2E55D588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2358390"/>
            <a:ext cx="411480" cy="411480"/>
          </a:xfrm>
          <a:prstGeom prst="rect">
            <a:avLst/>
          </a:prstGeom>
        </p:spPr>
      </p:pic>
      <p:sp>
        <p:nvSpPr>
          <p:cNvPr id="35" name="Text 21">
            <a:extLst>
              <a:ext uri="{FF2B5EF4-FFF2-40B4-BE49-F238E27FC236}">
                <a16:creationId xmlns:a16="http://schemas.microsoft.com/office/drawing/2014/main" id="{20CD0A55-1DAE-6310-C241-22B50C9A32E5}"/>
              </a:ext>
            </a:extLst>
          </p:cNvPr>
          <p:cNvSpPr/>
          <p:nvPr/>
        </p:nvSpPr>
        <p:spPr>
          <a:xfrm>
            <a:off x="4274820" y="2321814"/>
            <a:ext cx="22783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3.3 70B (Groq)</a:t>
            </a:r>
            <a:endParaRPr lang="en-US" sz="14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47C4FF9A-8BD2-DD60-6103-3B77FCC9A862}"/>
              </a:ext>
            </a:extLst>
          </p:cNvPr>
          <p:cNvSpPr/>
          <p:nvPr/>
        </p:nvSpPr>
        <p:spPr>
          <a:xfrm>
            <a:off x="3835908" y="271500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B0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Parsing + Context Injection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F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machine-readable agent goal</a:t>
            </a:r>
            <a:endParaRPr lang="en-US" sz="1100" dirty="0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D97D8C6F-A9F1-2ADD-C06D-8F4860BC2DD3}"/>
              </a:ext>
            </a:extLst>
          </p:cNvPr>
          <p:cNvSpPr/>
          <p:nvPr/>
        </p:nvSpPr>
        <p:spPr>
          <a:xfrm>
            <a:off x="5105400" y="3208782"/>
            <a:ext cx="0" cy="41148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64992034-788C-B333-E167-8453DED0FFA0}"/>
              </a:ext>
            </a:extLst>
          </p:cNvPr>
          <p:cNvSpPr/>
          <p:nvPr/>
        </p:nvSpPr>
        <p:spPr>
          <a:xfrm>
            <a:off x="5227320" y="326364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6B3A2A"/>
                </a:solidFill>
              </a:rPr>
              <a:t>Agent Command</a:t>
            </a:r>
            <a:endParaRPr lang="en-US" sz="1050" dirty="0"/>
          </a:p>
        </p:txBody>
      </p:sp>
      <p:sp>
        <p:nvSpPr>
          <p:cNvPr id="39" name="Shape 25">
            <a:extLst>
              <a:ext uri="{FF2B5EF4-FFF2-40B4-BE49-F238E27FC236}">
                <a16:creationId xmlns:a16="http://schemas.microsoft.com/office/drawing/2014/main" id="{6B03B0D4-2909-FCD4-094B-C6651ACE27C3}"/>
              </a:ext>
            </a:extLst>
          </p:cNvPr>
          <p:cNvSpPr/>
          <p:nvPr/>
        </p:nvSpPr>
        <p:spPr>
          <a:xfrm>
            <a:off x="3360420" y="3486149"/>
            <a:ext cx="3552444" cy="829055"/>
          </a:xfrm>
          <a:prstGeom prst="rect">
            <a:avLst/>
          </a:prstGeom>
          <a:solidFill>
            <a:srgbClr val="7A0000"/>
          </a:solidFill>
          <a:ln w="254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5">
            <a:extLst>
              <a:ext uri="{FF2B5EF4-FFF2-40B4-BE49-F238E27FC236}">
                <a16:creationId xmlns:a16="http://schemas.microsoft.com/office/drawing/2014/main" id="{BDE4F51C-80C9-2220-3A90-A55BF86E6D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0148" y="3550158"/>
            <a:ext cx="384048" cy="384048"/>
          </a:xfrm>
          <a:prstGeom prst="rect">
            <a:avLst/>
          </a:prstGeom>
        </p:spPr>
      </p:pic>
      <p:sp>
        <p:nvSpPr>
          <p:cNvPr id="41" name="Text 26">
            <a:extLst>
              <a:ext uri="{FF2B5EF4-FFF2-40B4-BE49-F238E27FC236}">
                <a16:creationId xmlns:a16="http://schemas.microsoft.com/office/drawing/2014/main" id="{9F8AD5E8-FA48-43D7-A400-EB7C06B674E2}"/>
              </a:ext>
            </a:extLst>
          </p:cNvPr>
          <p:cNvSpPr/>
          <p:nvPr/>
        </p:nvSpPr>
        <p:spPr>
          <a:xfrm>
            <a:off x="3890772" y="3556254"/>
            <a:ext cx="29672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TinyFish SDK — Headless Browser Agent</a:t>
            </a:r>
            <a:endParaRPr lang="en-US" sz="14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76E97CDB-F006-FE16-19B6-12D411240692}"/>
              </a:ext>
            </a:extLst>
          </p:cNvPr>
          <p:cNvSpPr/>
          <p:nvPr/>
        </p:nvSpPr>
        <p:spPr>
          <a:xfrm>
            <a:off x="3890772" y="394335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browser automation on Swiggy &amp; Zomato simultaneously</a:t>
            </a:r>
            <a:endParaRPr lang="en-US" sz="1100" dirty="0"/>
          </a:p>
        </p:txBody>
      </p:sp>
      <p:sp>
        <p:nvSpPr>
          <p:cNvPr id="44" name="Shape 29">
            <a:extLst>
              <a:ext uri="{FF2B5EF4-FFF2-40B4-BE49-F238E27FC236}">
                <a16:creationId xmlns:a16="http://schemas.microsoft.com/office/drawing/2014/main" id="{3211C190-6D0B-E17A-30AF-8033835844FB}"/>
              </a:ext>
            </a:extLst>
          </p:cNvPr>
          <p:cNvSpPr/>
          <p:nvPr/>
        </p:nvSpPr>
        <p:spPr>
          <a:xfrm>
            <a:off x="6176772" y="4324350"/>
            <a:ext cx="960120" cy="201168"/>
          </a:xfrm>
          <a:prstGeom prst="line">
            <a:avLst/>
          </a:prstGeom>
          <a:noFill/>
          <a:ln w="1524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0">
            <a:extLst>
              <a:ext uri="{FF2B5EF4-FFF2-40B4-BE49-F238E27FC236}">
                <a16:creationId xmlns:a16="http://schemas.microsoft.com/office/drawing/2014/main" id="{01442001-8D18-7895-2EE4-3AC37211802B}"/>
              </a:ext>
            </a:extLst>
          </p:cNvPr>
          <p:cNvSpPr/>
          <p:nvPr/>
        </p:nvSpPr>
        <p:spPr>
          <a:xfrm>
            <a:off x="1440180" y="4324350"/>
            <a:ext cx="1463040" cy="457200"/>
          </a:xfrm>
          <a:prstGeom prst="rect">
            <a:avLst/>
          </a:prstGeom>
          <a:solidFill>
            <a:srgbClr val="E15F2C"/>
          </a:solidFill>
          <a:ln w="12700">
            <a:solidFill>
              <a:srgbClr val="E15F2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1">
            <a:extLst>
              <a:ext uri="{FF2B5EF4-FFF2-40B4-BE49-F238E27FC236}">
                <a16:creationId xmlns:a16="http://schemas.microsoft.com/office/drawing/2014/main" id="{003F102D-0A81-9D1B-E694-0A57D080F59D}"/>
              </a:ext>
            </a:extLst>
          </p:cNvPr>
          <p:cNvSpPr/>
          <p:nvPr/>
        </p:nvSpPr>
        <p:spPr>
          <a:xfrm>
            <a:off x="1440180" y="447675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🛵  Swiggy</a:t>
            </a:r>
            <a:endParaRPr lang="en-US" sz="1600" dirty="0"/>
          </a:p>
        </p:txBody>
      </p:sp>
      <p:sp>
        <p:nvSpPr>
          <p:cNvPr id="47" name="Shape 32">
            <a:extLst>
              <a:ext uri="{FF2B5EF4-FFF2-40B4-BE49-F238E27FC236}">
                <a16:creationId xmlns:a16="http://schemas.microsoft.com/office/drawing/2014/main" id="{DBE4FE8C-3A0A-B592-63D3-DEF061D8AFEF}"/>
              </a:ext>
            </a:extLst>
          </p:cNvPr>
          <p:cNvSpPr/>
          <p:nvPr/>
        </p:nvSpPr>
        <p:spPr>
          <a:xfrm>
            <a:off x="7109460" y="4324350"/>
            <a:ext cx="1577340" cy="457200"/>
          </a:xfrm>
          <a:prstGeom prst="rect">
            <a:avLst/>
          </a:prstGeom>
          <a:solidFill>
            <a:srgbClr val="CB202D"/>
          </a:solidFill>
          <a:ln w="12700">
            <a:solidFill>
              <a:srgbClr val="CB20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CCC3E53A-0D66-CEC1-B57D-CDC7BE87A5BD}"/>
              </a:ext>
            </a:extLst>
          </p:cNvPr>
          <p:cNvSpPr/>
          <p:nvPr/>
        </p:nvSpPr>
        <p:spPr>
          <a:xfrm>
            <a:off x="7109460" y="447675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🍴  Zomato</a:t>
            </a:r>
            <a:endParaRPr lang="en-US" sz="1600" dirty="0"/>
          </a:p>
        </p:txBody>
      </p:sp>
      <p:sp>
        <p:nvSpPr>
          <p:cNvPr id="49" name="Text 34">
            <a:extLst>
              <a:ext uri="{FF2B5EF4-FFF2-40B4-BE49-F238E27FC236}">
                <a16:creationId xmlns:a16="http://schemas.microsoft.com/office/drawing/2014/main" id="{A8CF13A3-CFF7-20F9-70D0-B3A01BD932AB}"/>
              </a:ext>
            </a:extLst>
          </p:cNvPr>
          <p:cNvSpPr/>
          <p:nvPr/>
        </p:nvSpPr>
        <p:spPr>
          <a:xfrm>
            <a:off x="3726180" y="458038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Ranked by True Price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27255017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20FB-9039-4092-C95B-0E4E9F8A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6DABA-D8C0-1CD2-4DCE-90E73FBF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876233-A8DA-A2B8-2D77-274570BE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B2C3044-4A60-33A7-24AC-46BA3B39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F788476-DF04-EA56-CF39-E180C51C4C42}"/>
              </a:ext>
            </a:extLst>
          </p:cNvPr>
          <p:cNvSpPr/>
          <p:nvPr/>
        </p:nvSpPr>
        <p:spPr>
          <a:xfrm>
            <a:off x="381000" y="169926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A713E32-6936-8DFF-B495-63D764E60111}"/>
              </a:ext>
            </a:extLst>
          </p:cNvPr>
          <p:cNvSpPr/>
          <p:nvPr/>
        </p:nvSpPr>
        <p:spPr>
          <a:xfrm>
            <a:off x="536448" y="13335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Project Flow</a:t>
            </a:r>
            <a:endParaRPr lang="en-US" sz="3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B56962C-6559-65A5-CD72-144683CBACC4}"/>
              </a:ext>
            </a:extLst>
          </p:cNvPr>
          <p:cNvSpPr/>
          <p:nvPr/>
        </p:nvSpPr>
        <p:spPr>
          <a:xfrm>
            <a:off x="411480" y="1005840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AFE8494-1D41-6090-A6A7-1D4B940874C3}"/>
              </a:ext>
            </a:extLst>
          </p:cNvPr>
          <p:cNvSpPr/>
          <p:nvPr/>
        </p:nvSpPr>
        <p:spPr>
          <a:xfrm>
            <a:off x="411480" y="1005840"/>
            <a:ext cx="73152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D379D55-4B94-755E-5BC0-B540727D4E52}"/>
              </a:ext>
            </a:extLst>
          </p:cNvPr>
          <p:cNvSpPr/>
          <p:nvPr/>
        </p:nvSpPr>
        <p:spPr>
          <a:xfrm>
            <a:off x="576072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1E0DEAF-DD23-635E-793B-C627BD46F2F9}"/>
              </a:ext>
            </a:extLst>
          </p:cNvPr>
          <p:cNvSpPr/>
          <p:nvPr/>
        </p:nvSpPr>
        <p:spPr>
          <a:xfrm>
            <a:off x="576072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• TailwindCSS • Zustand • Framer Motion</a:t>
            </a:r>
            <a:endParaRPr lang="en-US" sz="13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C87B1658-D2B1-EC39-532C-759233A71EE3}"/>
              </a:ext>
            </a:extLst>
          </p:cNvPr>
          <p:cNvSpPr/>
          <p:nvPr/>
        </p:nvSpPr>
        <p:spPr>
          <a:xfrm>
            <a:off x="411480" y="1773936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B3C1F089-8D25-CE73-318B-2F7133072ACC}"/>
              </a:ext>
            </a:extLst>
          </p:cNvPr>
          <p:cNvSpPr/>
          <p:nvPr/>
        </p:nvSpPr>
        <p:spPr>
          <a:xfrm>
            <a:off x="411480" y="1773936"/>
            <a:ext cx="73152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A97E247-628C-FD3F-F3E3-77CFC5ABAA53}"/>
              </a:ext>
            </a:extLst>
          </p:cNvPr>
          <p:cNvSpPr/>
          <p:nvPr/>
        </p:nvSpPr>
        <p:spPr>
          <a:xfrm>
            <a:off x="576072" y="1819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0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AF1CD22-8495-C223-FC1F-A5FA1DF7A172}"/>
              </a:ext>
            </a:extLst>
          </p:cNvPr>
          <p:cNvSpPr/>
          <p:nvPr/>
        </p:nvSpPr>
        <p:spPr>
          <a:xfrm>
            <a:off x="576072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• JWT Authentication • Async I/O</a:t>
            </a:r>
            <a:endParaRPr lang="en-US" sz="13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88ADDA6A-D3C0-BA9A-3728-F7BC6149F63E}"/>
              </a:ext>
            </a:extLst>
          </p:cNvPr>
          <p:cNvSpPr/>
          <p:nvPr/>
        </p:nvSpPr>
        <p:spPr>
          <a:xfrm>
            <a:off x="411480" y="2542032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BEBDBE-B41A-B013-4BFC-21419F6851C7}"/>
              </a:ext>
            </a:extLst>
          </p:cNvPr>
          <p:cNvSpPr/>
          <p:nvPr/>
        </p:nvSpPr>
        <p:spPr>
          <a:xfrm>
            <a:off x="411480" y="2542032"/>
            <a:ext cx="73152" cy="658368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0813B2A0-A5AA-AC69-592F-1E6D3A632214}"/>
              </a:ext>
            </a:extLst>
          </p:cNvPr>
          <p:cNvSpPr/>
          <p:nvPr/>
        </p:nvSpPr>
        <p:spPr>
          <a:xfrm>
            <a:off x="576072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B18BE59-1210-90AF-E54E-0959CADC4ADF}"/>
              </a:ext>
            </a:extLst>
          </p:cNvPr>
          <p:cNvSpPr/>
          <p:nvPr/>
        </p:nvSpPr>
        <p:spPr>
          <a:xfrm>
            <a:off x="576072" y="2862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Encrypted user profiles &amp; state</a:t>
            </a:r>
            <a:endParaRPr lang="en-US" sz="13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05F878B-80FB-57EE-B238-676DCC36FA46}"/>
              </a:ext>
            </a:extLst>
          </p:cNvPr>
          <p:cNvSpPr/>
          <p:nvPr/>
        </p:nvSpPr>
        <p:spPr>
          <a:xfrm>
            <a:off x="411480" y="3310128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09CB4C8B-9801-B9A4-F127-774BA80B1FDC}"/>
              </a:ext>
            </a:extLst>
          </p:cNvPr>
          <p:cNvSpPr/>
          <p:nvPr/>
        </p:nvSpPr>
        <p:spPr>
          <a:xfrm>
            <a:off x="411480" y="3310128"/>
            <a:ext cx="73152" cy="65836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FEB56B9-EEBD-97A8-7691-2C6934C50F2D}"/>
              </a:ext>
            </a:extLst>
          </p:cNvPr>
          <p:cNvSpPr/>
          <p:nvPr/>
        </p:nvSpPr>
        <p:spPr>
          <a:xfrm>
            <a:off x="576072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3F8B827-FA4C-30DA-A9EE-C94F532C382A}"/>
              </a:ext>
            </a:extLst>
          </p:cNvPr>
          <p:cNvSpPr/>
          <p:nvPr/>
        </p:nvSpPr>
        <p:spPr>
          <a:xfrm>
            <a:off x="576072" y="3630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via Groq API — Intent parsing</a:t>
            </a:r>
            <a:endParaRPr lang="en-US" sz="13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B7DBC7F-4533-2EAB-1A58-F26C8A022500}"/>
              </a:ext>
            </a:extLst>
          </p:cNvPr>
          <p:cNvSpPr/>
          <p:nvPr/>
        </p:nvSpPr>
        <p:spPr>
          <a:xfrm>
            <a:off x="411480" y="4078224"/>
            <a:ext cx="384048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9953411C-7DE9-F900-EC14-6F1EAE0E9279}"/>
              </a:ext>
            </a:extLst>
          </p:cNvPr>
          <p:cNvSpPr/>
          <p:nvPr/>
        </p:nvSpPr>
        <p:spPr>
          <a:xfrm>
            <a:off x="411480" y="4078224"/>
            <a:ext cx="73152" cy="658368"/>
          </a:xfrm>
          <a:prstGeom prst="rect">
            <a:avLst/>
          </a:prstGeom>
          <a:solidFill>
            <a:srgbClr val="7A3500"/>
          </a:solidFill>
          <a:ln w="12700">
            <a:solidFill>
              <a:srgbClr val="7A3500"/>
            </a:solidFill>
            <a:prstDash val="solid"/>
          </a:ln>
        </p:spPr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402CEA11-7D28-6C47-B82A-335F3B49EC72}"/>
              </a:ext>
            </a:extLst>
          </p:cNvPr>
          <p:cNvSpPr/>
          <p:nvPr/>
        </p:nvSpPr>
        <p:spPr>
          <a:xfrm>
            <a:off x="576072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3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663F430A-1D46-08D6-AA6A-0B4C48938B10}"/>
              </a:ext>
            </a:extLst>
          </p:cNvPr>
          <p:cNvSpPr/>
          <p:nvPr/>
        </p:nvSpPr>
        <p:spPr>
          <a:xfrm>
            <a:off x="576072" y="4398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SDK — Headless parallel browser control</a:t>
            </a:r>
            <a:endParaRPr lang="en-US" sz="13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4A3C6787-AC43-F3BB-567A-387B4551E5C8}"/>
              </a:ext>
            </a:extLst>
          </p:cNvPr>
          <p:cNvSpPr/>
          <p:nvPr/>
        </p:nvSpPr>
        <p:spPr>
          <a:xfrm>
            <a:off x="4480560" y="956310"/>
            <a:ext cx="4361688" cy="3749040"/>
          </a:xfrm>
          <a:prstGeom prst="rect">
            <a:avLst/>
          </a:prstGeom>
          <a:solidFill>
            <a:srgbClr val="FFFBF0"/>
          </a:solidFill>
          <a:ln w="1524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355D7133-C8E7-532D-0B60-93CC2E957580}"/>
              </a:ext>
            </a:extLst>
          </p:cNvPr>
          <p:cNvSpPr/>
          <p:nvPr/>
        </p:nvSpPr>
        <p:spPr>
          <a:xfrm>
            <a:off x="4480560" y="960120"/>
            <a:ext cx="4361688" cy="38404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6259C255-A1A8-C534-8075-6882F42D3BE9}"/>
              </a:ext>
            </a:extLst>
          </p:cNvPr>
          <p:cNvSpPr/>
          <p:nvPr/>
        </p:nvSpPr>
        <p:spPr>
          <a:xfrm>
            <a:off x="4480560" y="960120"/>
            <a:ext cx="4361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Flow</a:t>
            </a:r>
            <a:endParaRPr lang="en-US" dirty="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FDC06802-35AA-1720-5418-C0DE3D365C37}"/>
              </a:ext>
            </a:extLst>
          </p:cNvPr>
          <p:cNvSpPr/>
          <p:nvPr/>
        </p:nvSpPr>
        <p:spPr>
          <a:xfrm>
            <a:off x="4882896" y="1733550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1EF7C8B3-A7C4-2D55-C3C9-25D369E26BFF}"/>
              </a:ext>
            </a:extLst>
          </p:cNvPr>
          <p:cNvSpPr/>
          <p:nvPr/>
        </p:nvSpPr>
        <p:spPr>
          <a:xfrm>
            <a:off x="4617720" y="135255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3B879529-BA5C-991F-8FF7-3DF8D45DEDE7}"/>
              </a:ext>
            </a:extLst>
          </p:cNvPr>
          <p:cNvSpPr/>
          <p:nvPr/>
        </p:nvSpPr>
        <p:spPr>
          <a:xfrm>
            <a:off x="5148072" y="14676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4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8C3AEC40-3E1E-5868-FE9A-C4A0E5B43B32}"/>
              </a:ext>
            </a:extLst>
          </p:cNvPr>
          <p:cNvSpPr/>
          <p:nvPr/>
        </p:nvSpPr>
        <p:spPr>
          <a:xfrm>
            <a:off x="5117496" y="1687068"/>
            <a:ext cx="4056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a vague natural language prompt</a:t>
            </a:r>
            <a:endParaRPr lang="en-US" sz="14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1BEA99FD-19A5-9C55-BFEC-3D274F8EFE2F}"/>
              </a:ext>
            </a:extLst>
          </p:cNvPr>
          <p:cNvSpPr/>
          <p:nvPr/>
        </p:nvSpPr>
        <p:spPr>
          <a:xfrm>
            <a:off x="4882896" y="2266950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6B535F60-8260-EC61-F100-055D016BCE6A}"/>
              </a:ext>
            </a:extLst>
          </p:cNvPr>
          <p:cNvSpPr/>
          <p:nvPr/>
        </p:nvSpPr>
        <p:spPr>
          <a:xfrm>
            <a:off x="4617720" y="188595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2</a:t>
            </a:r>
            <a:endParaRPr lang="en-US" sz="140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A650DF85-FBF3-3613-8287-9D970ABC98C2}"/>
              </a:ext>
            </a:extLst>
          </p:cNvPr>
          <p:cNvSpPr/>
          <p:nvPr/>
        </p:nvSpPr>
        <p:spPr>
          <a:xfrm>
            <a:off x="5148072" y="196215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</a:t>
            </a:r>
            <a:endParaRPr lang="en-US" sz="14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FAFA9FEB-FA94-274B-4E44-470F1ACA3293}"/>
              </a:ext>
            </a:extLst>
          </p:cNvPr>
          <p:cNvSpPr/>
          <p:nvPr/>
        </p:nvSpPr>
        <p:spPr>
          <a:xfrm>
            <a:off x="5125212" y="2266950"/>
            <a:ext cx="36301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retrieves user profile (allergies, address) from MongoDB</a:t>
            </a:r>
            <a:endParaRPr lang="en-US" sz="140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5B4E8EF0-E3F2-CF11-E89B-C2CE026E3B01}"/>
              </a:ext>
            </a:extLst>
          </p:cNvPr>
          <p:cNvSpPr/>
          <p:nvPr/>
        </p:nvSpPr>
        <p:spPr>
          <a:xfrm>
            <a:off x="4882896" y="2952750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94BA7DF3-56F2-705D-F4D9-628D5E187DCF}"/>
              </a:ext>
            </a:extLst>
          </p:cNvPr>
          <p:cNvSpPr/>
          <p:nvPr/>
        </p:nvSpPr>
        <p:spPr>
          <a:xfrm>
            <a:off x="4617720" y="257175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3</a:t>
            </a:r>
            <a:endParaRPr lang="en-US" sz="1400" dirty="0"/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226E8376-6046-A798-1DA6-CCE38138A0F9}"/>
              </a:ext>
            </a:extLst>
          </p:cNvPr>
          <p:cNvSpPr/>
          <p:nvPr/>
        </p:nvSpPr>
        <p:spPr>
          <a:xfrm>
            <a:off x="5102352" y="264795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8693B50E-EBB3-A9CB-1557-5AF763C9C992}"/>
              </a:ext>
            </a:extLst>
          </p:cNvPr>
          <p:cNvSpPr/>
          <p:nvPr/>
        </p:nvSpPr>
        <p:spPr>
          <a:xfrm>
            <a:off x="5103877" y="2966466"/>
            <a:ext cx="3630167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r>
              <a:rPr lang="en-US" sz="140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converts input + profile into strict machine-readable goal</a:t>
            </a:r>
            <a:endParaRPr lang="en-US" sz="1400" dirty="0"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69696611-1D47-ADC3-4EF6-84B154A7F48C}"/>
              </a:ext>
            </a:extLst>
          </p:cNvPr>
          <p:cNvSpPr/>
          <p:nvPr/>
        </p:nvSpPr>
        <p:spPr>
          <a:xfrm>
            <a:off x="4882896" y="3638550"/>
            <a:ext cx="0" cy="201168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1F803356-EBC8-C067-2182-42A285335687}"/>
              </a:ext>
            </a:extLst>
          </p:cNvPr>
          <p:cNvSpPr/>
          <p:nvPr/>
        </p:nvSpPr>
        <p:spPr>
          <a:xfrm>
            <a:off x="4617720" y="325755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4</a:t>
            </a:r>
            <a:endParaRPr lang="en-US" sz="1400" dirty="0"/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4BC5969B-CFAF-43B3-E112-22A471FEDB30}"/>
              </a:ext>
            </a:extLst>
          </p:cNvPr>
          <p:cNvSpPr/>
          <p:nvPr/>
        </p:nvSpPr>
        <p:spPr>
          <a:xfrm>
            <a:off x="5105400" y="336499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822884C3-C5A5-6ED0-0B74-4426392BF15B}"/>
              </a:ext>
            </a:extLst>
          </p:cNvPr>
          <p:cNvSpPr/>
          <p:nvPr/>
        </p:nvSpPr>
        <p:spPr>
          <a:xfrm>
            <a:off x="5102352" y="3640074"/>
            <a:ext cx="3584448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TinyFish launches headless browsers on Swiggy &amp; Zomato simultaneously</a:t>
            </a:r>
            <a:endParaRPr lang="en-US" sz="1400" dirty="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253A4829-EA73-49A0-A414-DE30286902CD}"/>
              </a:ext>
            </a:extLst>
          </p:cNvPr>
          <p:cNvSpPr/>
          <p:nvPr/>
        </p:nvSpPr>
        <p:spPr>
          <a:xfrm>
            <a:off x="4617720" y="3867150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5</a:t>
            </a:r>
            <a:endParaRPr lang="en-US" sz="1400" dirty="0"/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4D4E60E7-2724-757C-8366-767434884599}"/>
              </a:ext>
            </a:extLst>
          </p:cNvPr>
          <p:cNvSpPr/>
          <p:nvPr/>
        </p:nvSpPr>
        <p:spPr>
          <a:xfrm>
            <a:off x="5104435" y="400278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400" dirty="0"/>
          </a:p>
        </p:txBody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13504D03-E0BD-3C2A-1E3A-22913BC96427}"/>
              </a:ext>
            </a:extLst>
          </p:cNvPr>
          <p:cNvSpPr/>
          <p:nvPr/>
        </p:nvSpPr>
        <p:spPr>
          <a:xfrm>
            <a:off x="5105400" y="4248150"/>
            <a:ext cx="3630168" cy="325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extracted, ranked by True Price, displayed to user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9547189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2E2E-BF9D-0FE3-4C07-38A12B0E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44822-ABAD-F883-CEB4-42E18C5B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3AC3-9DAD-92F3-918F-25DDF1B8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E91E748-93FB-6604-38CB-2600CC5D6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BD40E5D7-48E9-D6F1-81EC-0149F82D1262}"/>
              </a:ext>
            </a:extLst>
          </p:cNvPr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3839E5D-5D6D-DF04-0728-A3EF822709EE}"/>
              </a:ext>
            </a:extLst>
          </p:cNvPr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2963153-3544-F274-935E-A9F28CB51BDB}"/>
              </a:ext>
            </a:extLst>
          </p:cNvPr>
          <p:cNvSpPr/>
          <p:nvPr/>
        </p:nvSpPr>
        <p:spPr>
          <a:xfrm>
            <a:off x="411480" y="987552"/>
            <a:ext cx="832104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2B6CF239-A720-5BB0-EA33-DED152B8E3E6}"/>
              </a:ext>
            </a:extLst>
          </p:cNvPr>
          <p:cNvSpPr/>
          <p:nvPr/>
        </p:nvSpPr>
        <p:spPr>
          <a:xfrm>
            <a:off x="411480" y="987552"/>
            <a:ext cx="914400" cy="1143000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9AACA3B4-042C-0AE3-1CCB-AD0376095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35024"/>
            <a:ext cx="457200" cy="457200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208890CE-7F9F-C2F5-1148-10F7F507E7EE}"/>
              </a:ext>
            </a:extLst>
          </p:cNvPr>
          <p:cNvSpPr/>
          <p:nvPr/>
        </p:nvSpPr>
        <p:spPr>
          <a:xfrm>
            <a:off x="1444752" y="107899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as Intent Bridge</a:t>
            </a:r>
            <a:endParaRPr lang="en-US" sz="16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73484E7-D713-66BA-287D-76970F33905E}"/>
              </a:ext>
            </a:extLst>
          </p:cNvPr>
          <p:cNvSpPr/>
          <p:nvPr/>
        </p:nvSpPr>
        <p:spPr>
          <a:xfrm>
            <a:off x="1444752" y="1490472"/>
            <a:ext cx="7040880" cy="182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EDBE5EE-3805-1278-7E95-4F0A3B91796E}"/>
              </a:ext>
            </a:extLst>
          </p:cNvPr>
          <p:cNvSpPr/>
          <p:nvPr/>
        </p:nvSpPr>
        <p:spPr>
          <a:xfrm>
            <a:off x="1444752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that Large Language Models can effectively bridge human intent and complex web UI interactions without manual intervention.</a:t>
            </a:r>
            <a:endParaRPr lang="en-US" sz="14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F985E1FD-7F49-2905-8B68-ED1268392696}"/>
              </a:ext>
            </a:extLst>
          </p:cNvPr>
          <p:cNvSpPr/>
          <p:nvPr/>
        </p:nvSpPr>
        <p:spPr>
          <a:xfrm>
            <a:off x="411480" y="2286000"/>
            <a:ext cx="832104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690D8D07-4F20-719C-B7FE-8FEA5E148B56}"/>
              </a:ext>
            </a:extLst>
          </p:cNvPr>
          <p:cNvSpPr/>
          <p:nvPr/>
        </p:nvSpPr>
        <p:spPr>
          <a:xfrm>
            <a:off x="411480" y="2286000"/>
            <a:ext cx="914400" cy="11430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A06FA584-805A-525E-82EE-9FE860E84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33472"/>
            <a:ext cx="457200" cy="45720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836305BD-524E-186F-DE4F-728BC3954D64}"/>
              </a:ext>
            </a:extLst>
          </p:cNvPr>
          <p:cNvSpPr/>
          <p:nvPr/>
        </p:nvSpPr>
        <p:spPr>
          <a:xfrm>
            <a:off x="1444752" y="23774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Safety via Profiles</a:t>
            </a:r>
            <a:endParaRPr lang="en-US" sz="16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10A7EE5-B56C-DB15-AF1D-83499E7399D1}"/>
              </a:ext>
            </a:extLst>
          </p:cNvPr>
          <p:cNvSpPr/>
          <p:nvPr/>
        </p:nvSpPr>
        <p:spPr>
          <a:xfrm>
            <a:off x="1444752" y="2788920"/>
            <a:ext cx="7040880" cy="182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E2A12CA-68DF-81B1-3ECA-E58DC69D2F06}"/>
              </a:ext>
            </a:extLst>
          </p:cNvPr>
          <p:cNvSpPr/>
          <p:nvPr/>
        </p:nvSpPr>
        <p:spPr>
          <a:xfrm>
            <a:off x="1444752" y="2852928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user profiles improved AI safety and speed by injecting allergy avoidance and exact delivery constraints before web execution.</a:t>
            </a:r>
            <a:endParaRPr lang="en-US" sz="14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FCAD5E2B-E48E-6CA4-6559-ED8D4530B19A}"/>
              </a:ext>
            </a:extLst>
          </p:cNvPr>
          <p:cNvSpPr/>
          <p:nvPr/>
        </p:nvSpPr>
        <p:spPr>
          <a:xfrm>
            <a:off x="411480" y="3584448"/>
            <a:ext cx="8321040" cy="1143000"/>
          </a:xfrm>
          <a:prstGeom prst="rect">
            <a:avLst/>
          </a:prstGeom>
          <a:solidFill>
            <a:srgbClr val="FFFBF0"/>
          </a:solidFill>
          <a:ln w="1270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C6F9C8A5-598F-7B97-7E02-4293D9EFE13A}"/>
              </a:ext>
            </a:extLst>
          </p:cNvPr>
          <p:cNvSpPr/>
          <p:nvPr/>
        </p:nvSpPr>
        <p:spPr>
          <a:xfrm>
            <a:off x="411480" y="3584448"/>
            <a:ext cx="914400" cy="114300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8CD07C61-AABB-43E9-7B67-F0B8998BF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31920"/>
            <a:ext cx="457200" cy="457200"/>
          </a:xfrm>
          <a:prstGeom prst="rect">
            <a:avLst/>
          </a:prstGeom>
        </p:spPr>
      </p:pic>
      <p:sp>
        <p:nvSpPr>
          <p:cNvPr id="26" name="Text 14">
            <a:extLst>
              <a:ext uri="{FF2B5EF4-FFF2-40B4-BE49-F238E27FC236}">
                <a16:creationId xmlns:a16="http://schemas.microsoft.com/office/drawing/2014/main" id="{2B65DCE1-088F-0FF6-8AFA-B1A5FF49370A}"/>
              </a:ext>
            </a:extLst>
          </p:cNvPr>
          <p:cNvSpPr/>
          <p:nvPr/>
        </p:nvSpPr>
        <p:spPr>
          <a:xfrm>
            <a:off x="1444752" y="367588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Execution Success</a:t>
            </a:r>
            <a:endParaRPr lang="en-US" sz="16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DC14F0F3-EBF6-8A06-0EEF-487B659EDD75}"/>
              </a:ext>
            </a:extLst>
          </p:cNvPr>
          <p:cNvSpPr/>
          <p:nvPr/>
        </p:nvSpPr>
        <p:spPr>
          <a:xfrm>
            <a:off x="1444752" y="4087368"/>
            <a:ext cx="7040880" cy="182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2C9161AA-8020-49D3-F10C-1106A242B30B}"/>
              </a:ext>
            </a:extLst>
          </p:cNvPr>
          <p:cNvSpPr/>
          <p:nvPr/>
        </p:nvSpPr>
        <p:spPr>
          <a:xfrm>
            <a:off x="1444752" y="4151376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10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simultaneous multi-platform automation — effectively eliminating tedious manual deal comparison across isolated apps.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5554792"/>
      </p:ext>
    </p:extLst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03CD299F-3AC5-686B-C72B-16F4E9BB43B7}"/>
              </a:ext>
            </a:extLst>
          </p:cNvPr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49A13F14-860B-E5C8-2FFC-D9B0BCE153D9}"/>
              </a:ext>
            </a:extLst>
          </p:cNvPr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EFF1178-58AF-4C36-0318-2492C1F7A47B}"/>
              </a:ext>
            </a:extLst>
          </p:cNvPr>
          <p:cNvSpPr/>
          <p:nvPr/>
        </p:nvSpPr>
        <p:spPr>
          <a:xfrm>
            <a:off x="213360" y="93268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11E309D-C497-57C7-B63C-0F1C3E4DDBDF}"/>
              </a:ext>
            </a:extLst>
          </p:cNvPr>
          <p:cNvSpPr/>
          <p:nvPr/>
        </p:nvSpPr>
        <p:spPr>
          <a:xfrm>
            <a:off x="213360" y="932688"/>
            <a:ext cx="2834640" cy="438912"/>
          </a:xfrm>
          <a:prstGeom prst="rect">
            <a:avLst/>
          </a:prstGeom>
          <a:solidFill>
            <a:srgbClr val="D4A017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2B287B0-745B-CE33-0AEE-0076783E0DEC}"/>
              </a:ext>
            </a:extLst>
          </p:cNvPr>
          <p:cNvSpPr/>
          <p:nvPr/>
        </p:nvSpPr>
        <p:spPr>
          <a:xfrm>
            <a:off x="243840" y="9845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>
              <a:solidFill>
                <a:srgbClr val="800000"/>
              </a:solidFill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C5D2FE89-1BE5-0771-DAAF-0C847EB09EFD}"/>
              </a:ext>
            </a:extLst>
          </p:cNvPr>
          <p:cNvSpPr/>
          <p:nvPr/>
        </p:nvSpPr>
        <p:spPr>
          <a:xfrm>
            <a:off x="323088" y="97155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Expansion</a:t>
            </a:r>
            <a:endParaRPr lang="en-US" sz="15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BEB39D04-4C27-3139-E22D-0A9C5DE27C69}"/>
              </a:ext>
            </a:extLst>
          </p:cNvPr>
          <p:cNvSpPr/>
          <p:nvPr/>
        </p:nvSpPr>
        <p:spPr>
          <a:xfrm>
            <a:off x="5105400" y="285750"/>
            <a:ext cx="2615184" cy="20117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82A7C46-1F4B-CB2F-988D-D08976F61935}"/>
              </a:ext>
            </a:extLst>
          </p:cNvPr>
          <p:cNvSpPr/>
          <p:nvPr/>
        </p:nvSpPr>
        <p:spPr>
          <a:xfrm>
            <a:off x="213360" y="1352550"/>
            <a:ext cx="283464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300" dirty="0">
                <a:latin typeface="Calibri "/>
              </a:rPr>
              <a:t>One AI agent monitoring Amazon, Flipkart, </a:t>
            </a:r>
            <a:r>
              <a:rPr lang="en-US" sz="1300" dirty="0" err="1">
                <a:latin typeface="Calibri "/>
              </a:rPr>
              <a:t>Meesho</a:t>
            </a:r>
            <a:r>
              <a:rPr lang="en-US" sz="1300" dirty="0">
                <a:latin typeface="Calibri "/>
              </a:rPr>
              <a:t> ,</a:t>
            </a:r>
            <a:r>
              <a:rPr lang="en-US" sz="1300" dirty="0" err="1">
                <a:latin typeface="Calibri "/>
              </a:rPr>
              <a:t>BookMyShow</a:t>
            </a:r>
            <a:r>
              <a:rPr lang="en-US" sz="1300" dirty="0">
                <a:latin typeface="Calibri "/>
              </a:rPr>
              <a:t>, Swiggy &amp; Zomato simultaneously — alerting the user the moment a relevant offer appears, faster than any human can browse.</a:t>
            </a:r>
            <a:endParaRPr lang="en-US" sz="1300" dirty="0">
              <a:effectLst/>
              <a:latin typeface="Calibri "/>
            </a:endParaRP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DA6E54D1-7092-6CBF-CE52-FB7A10F85430}"/>
              </a:ext>
            </a:extLst>
          </p:cNvPr>
          <p:cNvSpPr/>
          <p:nvPr/>
        </p:nvSpPr>
        <p:spPr>
          <a:xfrm>
            <a:off x="3200400" y="92887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9468CD8A-E9E8-BBBA-2D24-8308EC7AEDC4}"/>
              </a:ext>
            </a:extLst>
          </p:cNvPr>
          <p:cNvSpPr/>
          <p:nvPr/>
        </p:nvSpPr>
        <p:spPr>
          <a:xfrm>
            <a:off x="3200400" y="928878"/>
            <a:ext cx="2834640" cy="438912"/>
          </a:xfrm>
          <a:prstGeom prst="rect">
            <a:avLst/>
          </a:prstGeom>
          <a:solidFill>
            <a:srgbClr val="006B6B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C04FAEAA-A7D9-12E0-C1ED-AB891D718BF4}"/>
              </a:ext>
            </a:extLst>
          </p:cNvPr>
          <p:cNvSpPr/>
          <p:nvPr/>
        </p:nvSpPr>
        <p:spPr>
          <a:xfrm>
            <a:off x="3230880" y="98069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>
              <a:solidFill>
                <a:srgbClr val="800000"/>
              </a:solidFill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6D4BD914-086E-90E5-C02A-DDC9C71D6B79}"/>
              </a:ext>
            </a:extLst>
          </p:cNvPr>
          <p:cNvSpPr/>
          <p:nvPr/>
        </p:nvSpPr>
        <p:spPr>
          <a:xfrm>
            <a:off x="3310128" y="96774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Advantage</a:t>
            </a:r>
            <a:endParaRPr lang="en-US" sz="15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C06E17FE-2525-3D4B-E9C3-420CAC1C4B04}"/>
              </a:ext>
            </a:extLst>
          </p:cNvPr>
          <p:cNvSpPr/>
          <p:nvPr/>
        </p:nvSpPr>
        <p:spPr>
          <a:xfrm>
            <a:off x="3200400" y="1424940"/>
            <a:ext cx="283464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300" dirty="0">
                <a:latin typeface="Calibri "/>
              </a:rPr>
              <a:t>Detect and act on limited-time instant offers the moment they go live — cart, apply coupon, and stage checkout before any human can even open the app.</a:t>
            </a:r>
          </a:p>
          <a:p>
            <a:pPr algn="just"/>
            <a:endParaRPr lang="en-US" sz="1300" dirty="0">
              <a:effectLst/>
              <a:latin typeface="Calibri 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53B7B262-3B77-DC05-F5CD-781B7057EBD4}"/>
              </a:ext>
            </a:extLst>
          </p:cNvPr>
          <p:cNvSpPr/>
          <p:nvPr/>
        </p:nvSpPr>
        <p:spPr>
          <a:xfrm>
            <a:off x="6172200" y="92887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88D0901C-E9BA-EEC9-7A07-31ED9106D73E}"/>
              </a:ext>
            </a:extLst>
          </p:cNvPr>
          <p:cNvSpPr/>
          <p:nvPr/>
        </p:nvSpPr>
        <p:spPr>
          <a:xfrm>
            <a:off x="6172200" y="928878"/>
            <a:ext cx="2834640" cy="438912"/>
          </a:xfrm>
          <a:prstGeom prst="rect">
            <a:avLst/>
          </a:prstGeom>
          <a:solidFill>
            <a:srgbClr val="1A4A7A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70BA3E36-F8D9-D7E1-442B-36E731F2A8BE}"/>
              </a:ext>
            </a:extLst>
          </p:cNvPr>
          <p:cNvSpPr/>
          <p:nvPr/>
        </p:nvSpPr>
        <p:spPr>
          <a:xfrm>
            <a:off x="6202680" y="98069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>
              <a:solidFill>
                <a:srgbClr val="800000"/>
              </a:solidFill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08B3F9E9-EA9F-5C59-A1A9-4D5E939FAE4C}"/>
              </a:ext>
            </a:extLst>
          </p:cNvPr>
          <p:cNvSpPr/>
          <p:nvPr/>
        </p:nvSpPr>
        <p:spPr>
          <a:xfrm>
            <a:off x="6281928" y="96774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4D34DEC5-5C91-F213-57EB-0ED807192B94}"/>
              </a:ext>
            </a:extLst>
          </p:cNvPr>
          <p:cNvSpPr/>
          <p:nvPr/>
        </p:nvSpPr>
        <p:spPr>
          <a:xfrm>
            <a:off x="6172200" y="1424940"/>
            <a:ext cx="283464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300" dirty="0">
                <a:latin typeface="Calibri "/>
              </a:rPr>
              <a:t>Securely log into the user's account via session cookies to auto-stage selected items in the cart — enabling true one-click checkout with zero manual steps.</a:t>
            </a:r>
          </a:p>
          <a:p>
            <a:pPr algn="just"/>
            <a:endParaRPr lang="en-US" sz="1300" dirty="0">
              <a:effectLst/>
              <a:latin typeface="Calibri "/>
            </a:endParaRP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32809192-1BCB-F3A3-E692-95B1CE818D6D}"/>
              </a:ext>
            </a:extLst>
          </p:cNvPr>
          <p:cNvSpPr/>
          <p:nvPr/>
        </p:nvSpPr>
        <p:spPr>
          <a:xfrm>
            <a:off x="1813560" y="291007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2A8AF535-5E83-C5C1-914A-DE57F1D06B5E}"/>
              </a:ext>
            </a:extLst>
          </p:cNvPr>
          <p:cNvSpPr/>
          <p:nvPr/>
        </p:nvSpPr>
        <p:spPr>
          <a:xfrm>
            <a:off x="1813560" y="2910078"/>
            <a:ext cx="2834640" cy="438912"/>
          </a:xfrm>
          <a:prstGeom prst="rect">
            <a:avLst/>
          </a:prstGeom>
          <a:solidFill>
            <a:srgbClr val="92D050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EDF8AFD1-44D3-292C-DF44-56E960DC7819}"/>
              </a:ext>
            </a:extLst>
          </p:cNvPr>
          <p:cNvSpPr/>
          <p:nvPr/>
        </p:nvSpPr>
        <p:spPr>
          <a:xfrm>
            <a:off x="1844040" y="296189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>
              <a:solidFill>
                <a:srgbClr val="800000"/>
              </a:solidFill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2768FE78-F62B-0D4F-14DF-DC9D1A4DF161}"/>
              </a:ext>
            </a:extLst>
          </p:cNvPr>
          <p:cNvSpPr/>
          <p:nvPr/>
        </p:nvSpPr>
        <p:spPr>
          <a:xfrm>
            <a:off x="1923288" y="294894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Entertainment</a:t>
            </a:r>
            <a:endParaRPr lang="en-US" sz="15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AAA9E779-8BD1-525D-48B5-278EA00F9843}"/>
              </a:ext>
            </a:extLst>
          </p:cNvPr>
          <p:cNvSpPr/>
          <p:nvPr/>
        </p:nvSpPr>
        <p:spPr>
          <a:xfrm>
            <a:off x="1813560" y="3406140"/>
            <a:ext cx="283464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300" dirty="0">
                <a:latin typeface="Calibri "/>
              </a:rPr>
              <a:t>Auto-detect new event listings and book the best available seats the moment tickets drop — beating the manual rush for movies, concerts, and sports events.</a:t>
            </a:r>
          </a:p>
          <a:p>
            <a:pPr algn="just"/>
            <a:endParaRPr lang="en-US" sz="1300" dirty="0">
              <a:effectLst/>
              <a:latin typeface="Calibri "/>
            </a:endParaRP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A96FD44E-C302-DC4B-C6A7-8CA6A6EB8DB4}"/>
              </a:ext>
            </a:extLst>
          </p:cNvPr>
          <p:cNvSpPr/>
          <p:nvPr/>
        </p:nvSpPr>
        <p:spPr>
          <a:xfrm>
            <a:off x="5105400" y="2910078"/>
            <a:ext cx="2834640" cy="1719072"/>
          </a:xfrm>
          <a:prstGeom prst="rect">
            <a:avLst/>
          </a:prstGeom>
          <a:solidFill>
            <a:srgbClr val="FFFBF0"/>
          </a:solidFill>
          <a:ln w="1270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C181DF91-3ED3-E33C-5196-16101DEF1DD9}"/>
              </a:ext>
            </a:extLst>
          </p:cNvPr>
          <p:cNvSpPr/>
          <p:nvPr/>
        </p:nvSpPr>
        <p:spPr>
          <a:xfrm>
            <a:off x="5105400" y="2910078"/>
            <a:ext cx="2834640" cy="438912"/>
          </a:xfrm>
          <a:prstGeom prst="rect">
            <a:avLst/>
          </a:prstGeom>
          <a:solidFill>
            <a:srgbClr val="1A5C2A"/>
          </a:solidFill>
          <a:ln w="12700">
            <a:solidFill>
              <a:srgbClr val="7A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A376B3A3-44BD-1750-2720-E455278893B5}"/>
              </a:ext>
            </a:extLst>
          </p:cNvPr>
          <p:cNvSpPr/>
          <p:nvPr/>
        </p:nvSpPr>
        <p:spPr>
          <a:xfrm>
            <a:off x="5135880" y="296189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>
              <a:solidFill>
                <a:srgbClr val="800000"/>
              </a:solidFill>
            </a:endParaRPr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A96C9D77-87D9-4C6B-C3EC-EEF24CD044F7}"/>
              </a:ext>
            </a:extLst>
          </p:cNvPr>
          <p:cNvSpPr/>
          <p:nvPr/>
        </p:nvSpPr>
        <p:spPr>
          <a:xfrm>
            <a:off x="5215128" y="294894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3592E686-F108-88DD-1ACF-F96D48EE1028}"/>
              </a:ext>
            </a:extLst>
          </p:cNvPr>
          <p:cNvSpPr/>
          <p:nvPr/>
        </p:nvSpPr>
        <p:spPr>
          <a:xfrm>
            <a:off x="5105400" y="3406140"/>
            <a:ext cx="2834640" cy="1223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1300" dirty="0">
                <a:latin typeface="Calibri "/>
              </a:rPr>
              <a:t>Stream the AI agent's live browser session directly on the frontend — users watch it click, search, and compare in real time, building trust and full transparency.</a:t>
            </a:r>
          </a:p>
          <a:p>
            <a:pPr algn="just"/>
            <a:endParaRPr lang="en-US" sz="1300" dirty="0">
              <a:effectLst/>
              <a:latin typeface="Calibri "/>
            </a:endParaRPr>
          </a:p>
        </p:txBody>
      </p:sp>
    </p:spTree>
    <p:extLst>
      <p:ext uri="{BB962C8B-B14F-4D97-AF65-F5344CB8AC3E}">
        <p14:creationId xmlns:p14="http://schemas.microsoft.com/office/powerpoint/2010/main" val="3773225150"/>
      </p:ext>
    </p:extLst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1C117000-B135-F0D9-EA5C-CDE0C25DA6EB}"/>
              </a:ext>
            </a:extLst>
          </p:cNvPr>
          <p:cNvSpPr/>
          <p:nvPr/>
        </p:nvSpPr>
        <p:spPr>
          <a:xfrm>
            <a:off x="411480" y="201168"/>
            <a:ext cx="64008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0D46696-BFCE-91F2-8B3B-A4789B4B7D3F}"/>
              </a:ext>
            </a:extLst>
          </p:cNvPr>
          <p:cNvSpPr/>
          <p:nvPr/>
        </p:nvSpPr>
        <p:spPr>
          <a:xfrm>
            <a:off x="566928" y="1645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A2D68333-049E-5451-70E6-2AA6A6FE8574}"/>
              </a:ext>
            </a:extLst>
          </p:cNvPr>
          <p:cNvSpPr/>
          <p:nvPr/>
        </p:nvSpPr>
        <p:spPr>
          <a:xfrm>
            <a:off x="411480" y="895350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6F92FD5-109E-D4AF-A759-06A286EF4F91}"/>
              </a:ext>
            </a:extLst>
          </p:cNvPr>
          <p:cNvSpPr/>
          <p:nvPr/>
        </p:nvSpPr>
        <p:spPr>
          <a:xfrm>
            <a:off x="411480" y="895350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6EF0628-6563-D6E5-931A-0F7A4F236BDD}"/>
              </a:ext>
            </a:extLst>
          </p:cNvPr>
          <p:cNvSpPr/>
          <p:nvPr/>
        </p:nvSpPr>
        <p:spPr>
          <a:xfrm>
            <a:off x="411480" y="89535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endParaRPr lang="en-US" sz="1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D6022560-CEA4-A1FB-7114-5F2153BF3F3C}"/>
              </a:ext>
            </a:extLst>
          </p:cNvPr>
          <p:cNvSpPr/>
          <p:nvPr/>
        </p:nvSpPr>
        <p:spPr>
          <a:xfrm>
            <a:off x="1005840" y="95021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TinyFish SDK Documentation</a:t>
            </a:r>
            <a:endParaRPr lang="en-US" sz="16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A9F338E-060B-3B2B-A4BC-A85780AF90B4}"/>
              </a:ext>
            </a:extLst>
          </p:cNvPr>
          <p:cNvSpPr/>
          <p:nvPr/>
        </p:nvSpPr>
        <p:spPr>
          <a:xfrm>
            <a:off x="1005840" y="124282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Web Agents — browser automation framework for AI-driven tasks.</a:t>
            </a:r>
            <a:endParaRPr lang="en-US" sz="1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78A604D-6FD5-22D1-0DB1-DE32EFF61D5B}"/>
              </a:ext>
            </a:extLst>
          </p:cNvPr>
          <p:cNvSpPr/>
          <p:nvPr/>
        </p:nvSpPr>
        <p:spPr>
          <a:xfrm>
            <a:off x="411480" y="1663446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D6884829-88D7-CA8D-4F93-BCA703E129DB}"/>
              </a:ext>
            </a:extLst>
          </p:cNvPr>
          <p:cNvSpPr/>
          <p:nvPr/>
        </p:nvSpPr>
        <p:spPr>
          <a:xfrm>
            <a:off x="411480" y="1663446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05E6D9A-DCAF-6FF2-51F3-3B313E1EA731}"/>
              </a:ext>
            </a:extLst>
          </p:cNvPr>
          <p:cNvSpPr/>
          <p:nvPr/>
        </p:nvSpPr>
        <p:spPr>
          <a:xfrm>
            <a:off x="411480" y="166344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endParaRPr lang="en-US" sz="16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DD63DEA1-346C-27CD-0872-3FF7A6032622}"/>
              </a:ext>
            </a:extLst>
          </p:cNvPr>
          <p:cNvSpPr/>
          <p:nvPr/>
        </p:nvSpPr>
        <p:spPr>
          <a:xfrm>
            <a:off x="1005840" y="171831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Groq Cloud API Documentation</a:t>
            </a:r>
            <a:endParaRPr lang="en-US" sz="16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63BA5935-55FD-3B44-BF0B-9008FBB31010}"/>
              </a:ext>
            </a:extLst>
          </p:cNvPr>
          <p:cNvSpPr/>
          <p:nvPr/>
        </p:nvSpPr>
        <p:spPr>
          <a:xfrm>
            <a:off x="1005840" y="201091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inference engine — ultra-fast LLM API for production use.</a:t>
            </a:r>
            <a:endParaRPr lang="en-US" sz="14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FF5C0095-62E7-82AA-A825-3442D327E845}"/>
              </a:ext>
            </a:extLst>
          </p:cNvPr>
          <p:cNvSpPr/>
          <p:nvPr/>
        </p:nvSpPr>
        <p:spPr>
          <a:xfrm>
            <a:off x="411480" y="2431542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698A4E42-BB8F-1B35-DCE0-5CA9F90F7A37}"/>
              </a:ext>
            </a:extLst>
          </p:cNvPr>
          <p:cNvSpPr/>
          <p:nvPr/>
        </p:nvSpPr>
        <p:spPr>
          <a:xfrm>
            <a:off x="411480" y="2431542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36A71828-CBA0-A2BF-FB97-0E688C7C4B2A}"/>
              </a:ext>
            </a:extLst>
          </p:cNvPr>
          <p:cNvSpPr/>
          <p:nvPr/>
        </p:nvSpPr>
        <p:spPr>
          <a:xfrm>
            <a:off x="411480" y="243154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[3]</a:t>
            </a:r>
            <a:endParaRPr lang="en-US" sz="16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E139667E-0B45-D473-764E-2B4A65BEDE1F}"/>
              </a:ext>
            </a:extLst>
          </p:cNvPr>
          <p:cNvSpPr/>
          <p:nvPr/>
        </p:nvSpPr>
        <p:spPr>
          <a:xfrm>
            <a:off x="1005840" y="248640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Framework</a:t>
            </a:r>
            <a:endParaRPr lang="en-US" sz="16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6B5643FC-1318-98F8-5EC8-71A6FB594C0E}"/>
              </a:ext>
            </a:extLst>
          </p:cNvPr>
          <p:cNvSpPr/>
          <p:nvPr/>
        </p:nvSpPr>
        <p:spPr>
          <a:xfrm>
            <a:off x="1005840" y="277901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high-performance Python web framework for building APIs.</a:t>
            </a:r>
            <a:endParaRPr lang="en-US" sz="1400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A62C3632-D25B-E0F3-989D-1428BC8F912C}"/>
              </a:ext>
            </a:extLst>
          </p:cNvPr>
          <p:cNvSpPr/>
          <p:nvPr/>
        </p:nvSpPr>
        <p:spPr>
          <a:xfrm>
            <a:off x="411480" y="3199638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A926884A-1AF8-39A7-77AC-4C6B25D6A607}"/>
              </a:ext>
            </a:extLst>
          </p:cNvPr>
          <p:cNvSpPr/>
          <p:nvPr/>
        </p:nvSpPr>
        <p:spPr>
          <a:xfrm>
            <a:off x="411480" y="3199638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97483523-8737-9464-55CF-EE84DD58FCD5}"/>
              </a:ext>
            </a:extLst>
          </p:cNvPr>
          <p:cNvSpPr/>
          <p:nvPr/>
        </p:nvSpPr>
        <p:spPr>
          <a:xfrm>
            <a:off x="411480" y="319963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[4]</a:t>
            </a:r>
            <a:endParaRPr lang="en-US" sz="16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43C51188-9836-2347-44A3-0184BC3FEFB6}"/>
              </a:ext>
            </a:extLst>
          </p:cNvPr>
          <p:cNvSpPr/>
          <p:nvPr/>
        </p:nvSpPr>
        <p:spPr>
          <a:xfrm>
            <a:off x="1005840" y="325450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Atlas</a:t>
            </a:r>
            <a:endParaRPr lang="en-US" sz="16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37708674-497D-E9AE-BCDF-A0414FE3C22E}"/>
              </a:ext>
            </a:extLst>
          </p:cNvPr>
          <p:cNvSpPr/>
          <p:nvPr/>
        </p:nvSpPr>
        <p:spPr>
          <a:xfrm>
            <a:off x="1005840" y="354711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NoSQL database — distributed data platform for applications.</a:t>
            </a:r>
            <a:endParaRPr lang="en-US" sz="1400" dirty="0"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E030223B-0AF7-5919-ED69-BE75E156E2A0}"/>
              </a:ext>
            </a:extLst>
          </p:cNvPr>
          <p:cNvSpPr/>
          <p:nvPr/>
        </p:nvSpPr>
        <p:spPr>
          <a:xfrm>
            <a:off x="411480" y="3967734"/>
            <a:ext cx="8321040" cy="658368"/>
          </a:xfrm>
          <a:prstGeom prst="rect">
            <a:avLst/>
          </a:prstGeom>
          <a:solidFill>
            <a:srgbClr val="FFFBF0"/>
          </a:solidFill>
          <a:ln w="10160">
            <a:solidFill>
              <a:srgbClr val="D4A01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3">
            <a:extLst>
              <a:ext uri="{FF2B5EF4-FFF2-40B4-BE49-F238E27FC236}">
                <a16:creationId xmlns:a16="http://schemas.microsoft.com/office/drawing/2014/main" id="{66BD70B5-90C6-7610-88F3-482BC6C4F3B2}"/>
              </a:ext>
            </a:extLst>
          </p:cNvPr>
          <p:cNvSpPr/>
          <p:nvPr/>
        </p:nvSpPr>
        <p:spPr>
          <a:xfrm>
            <a:off x="411480" y="3967734"/>
            <a:ext cx="502920" cy="658368"/>
          </a:xfrm>
          <a:prstGeom prst="rect">
            <a:avLst/>
          </a:prstGeom>
          <a:solidFill>
            <a:srgbClr val="7A0000"/>
          </a:solidFill>
          <a:ln w="12700">
            <a:solidFill>
              <a:srgbClr val="7A0000"/>
            </a:solidFill>
            <a:prstDash val="solid"/>
          </a:ln>
        </p:spPr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DEC70015-8B8B-4EF2-DEE4-8DD09EF6A793}"/>
              </a:ext>
            </a:extLst>
          </p:cNvPr>
          <p:cNvSpPr/>
          <p:nvPr/>
        </p:nvSpPr>
        <p:spPr>
          <a:xfrm>
            <a:off x="411480" y="396773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[5]</a:t>
            </a:r>
            <a:endParaRPr lang="en-US" sz="120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F21FCED0-C944-C512-9133-A782FE48238C}"/>
              </a:ext>
            </a:extLst>
          </p:cNvPr>
          <p:cNvSpPr/>
          <p:nvPr/>
        </p:nvSpPr>
        <p:spPr>
          <a:xfrm>
            <a:off x="1005840" y="402259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 &amp; TailwindCSS</a:t>
            </a:r>
            <a:endParaRPr lang="en-US" sz="1600" dirty="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261FA93E-FB80-3F58-866A-F698B84CDE3F}"/>
              </a:ext>
            </a:extLst>
          </p:cNvPr>
          <p:cNvSpPr/>
          <p:nvPr/>
        </p:nvSpPr>
        <p:spPr>
          <a:xfrm>
            <a:off x="1005840" y="431520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development with utility-first CSS framework.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39519315"/>
      </p:ext>
    </p:extLst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6">
            <a:extLst>
              <a:ext uri="{FF2B5EF4-FFF2-40B4-BE49-F238E27FC236}">
                <a16:creationId xmlns:a16="http://schemas.microsoft.com/office/drawing/2014/main" id="{E439DB20-5FD8-E29F-E694-8B67EE187642}"/>
              </a:ext>
            </a:extLst>
          </p:cNvPr>
          <p:cNvSpPr/>
          <p:nvPr/>
        </p:nvSpPr>
        <p:spPr>
          <a:xfrm>
            <a:off x="685800" y="1623264"/>
            <a:ext cx="8001000" cy="3005886"/>
          </a:xfrm>
          <a:prstGeom prst="rect">
            <a:avLst/>
          </a:prstGeom>
          <a:solidFill>
            <a:srgbClr val="7A0000"/>
          </a:solidFill>
          <a:ln w="1905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F8E72F3-D550-CB60-73C7-23299023261D}"/>
              </a:ext>
            </a:extLst>
          </p:cNvPr>
          <p:cNvSpPr/>
          <p:nvPr/>
        </p:nvSpPr>
        <p:spPr>
          <a:xfrm>
            <a:off x="1143000" y="1645921"/>
            <a:ext cx="7086600" cy="2830830"/>
          </a:xfrm>
          <a:prstGeom prst="rect">
            <a:avLst/>
          </a:prstGeom>
          <a:solidFill>
            <a:srgbClr val="D4A017"/>
          </a:solidFill>
          <a:ln w="1905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7F3E35C3-CE7E-7C0A-0C3B-020FF3F7214F}"/>
              </a:ext>
            </a:extLst>
          </p:cNvPr>
          <p:cNvSpPr/>
          <p:nvPr/>
        </p:nvSpPr>
        <p:spPr>
          <a:xfrm>
            <a:off x="2034540" y="1885950"/>
            <a:ext cx="5280660" cy="2438400"/>
          </a:xfrm>
          <a:prstGeom prst="rect">
            <a:avLst/>
          </a:prstGeom>
          <a:solidFill>
            <a:srgbClr val="7A0000"/>
          </a:solidFill>
          <a:ln w="19050">
            <a:solidFill>
              <a:srgbClr val="D4A017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C981ED4-52F9-039E-D998-48CA53F6610D}"/>
              </a:ext>
            </a:extLst>
          </p:cNvPr>
          <p:cNvSpPr/>
          <p:nvPr/>
        </p:nvSpPr>
        <p:spPr>
          <a:xfrm>
            <a:off x="685800" y="289356"/>
            <a:ext cx="8001000" cy="1356564"/>
          </a:xfrm>
          <a:prstGeom prst="rect">
            <a:avLst/>
          </a:prstGeom>
          <a:solidFill>
            <a:srgbClr val="7A0000"/>
          </a:solidFill>
          <a:ln w="19050">
            <a:solidFill>
              <a:srgbClr val="80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Food Agent AI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824F672-4E46-D582-F66E-AFE7AE723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07670"/>
            <a:ext cx="1097280" cy="1097280"/>
          </a:xfrm>
          <a:prstGeom prst="rect">
            <a:avLst/>
          </a:prstGeom>
        </p:spPr>
      </p:pic>
      <p:sp>
        <p:nvSpPr>
          <p:cNvPr id="4" name="Text 4">
            <a:extLst>
              <a:ext uri="{FF2B5EF4-FFF2-40B4-BE49-F238E27FC236}">
                <a16:creationId xmlns:a16="http://schemas.microsoft.com/office/drawing/2014/main" id="{656A79EF-7605-0EE9-022E-9890CF8CF114}"/>
              </a:ext>
            </a:extLst>
          </p:cNvPr>
          <p:cNvSpPr/>
          <p:nvPr/>
        </p:nvSpPr>
        <p:spPr>
          <a:xfrm>
            <a:off x="1371600" y="196215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AC08B2B-7E38-E47E-8B26-01968F073008}"/>
              </a:ext>
            </a:extLst>
          </p:cNvPr>
          <p:cNvSpPr/>
          <p:nvPr/>
        </p:nvSpPr>
        <p:spPr>
          <a:xfrm>
            <a:off x="1828800" y="310515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>
              <a:solidFill>
                <a:srgbClr val="D4A017"/>
              </a:solidFill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09B1F7A-4B36-4F20-1CAF-7E792EAE138B}"/>
              </a:ext>
            </a:extLst>
          </p:cNvPr>
          <p:cNvSpPr/>
          <p:nvPr/>
        </p:nvSpPr>
        <p:spPr>
          <a:xfrm>
            <a:off x="3200400" y="365379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58B9354-AFEF-3D71-E09A-C5CFBA2385BC}"/>
              </a:ext>
            </a:extLst>
          </p:cNvPr>
          <p:cNvSpPr/>
          <p:nvPr/>
        </p:nvSpPr>
        <p:spPr>
          <a:xfrm>
            <a:off x="990600" y="363855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400" dirty="0">
              <a:solidFill>
                <a:srgbClr val="D4A017"/>
              </a:solidFill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N.K. Orchid College of Engineering &amp; Technology, Solapur  |  2025-26</a:t>
            </a:r>
            <a:endParaRPr lang="en-US" sz="1400" dirty="0">
              <a:solidFill>
                <a:srgbClr val="D4A0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91548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8212</TotalTime>
  <Words>960</Words>
  <Application>Microsoft Office PowerPoint</Application>
  <PresentationFormat>On-screen Show (16:9)</PresentationFormat>
  <Paragraphs>184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Calibri </vt:lpstr>
      <vt:lpstr>Georgia</vt:lpstr>
      <vt:lpstr>Office Theme</vt:lpstr>
      <vt:lpstr>Mini Project II “Food Agent AI”  Presented By 1.Vinayak Nagelli &amp; Roll No. 43 2. Pratik Pasafule &amp; Roll No. 45  Class : TY Sem.-II  Under the guidance of Prof. V. D. Gaikwad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Adesh Chandanshive</dc:creator>
  <cp:keywords>Orchid EnTC</cp:keywords>
  <cp:lastModifiedBy>swapnil bandagi</cp:lastModifiedBy>
  <cp:revision>359</cp:revision>
  <dcterms:created xsi:type="dcterms:W3CDTF">2006-08-16T00:00:00Z</dcterms:created>
  <dcterms:modified xsi:type="dcterms:W3CDTF">2026-04-24T08:21:24Z</dcterms:modified>
</cp:coreProperties>
</file>