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DF5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91840" cy="5143500"/>
          </a:xfrm>
          <a:prstGeom prst="rect">
            <a:avLst/>
          </a:prstGeom>
          <a:solidFill>
            <a:srgbClr val="7A0000"/>
          </a:solidFill>
          <a:ln w="12700">
            <a:solidFill>
              <a:srgbClr val="7A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91840" y="0"/>
            <a:ext cx="91440" cy="514350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274320"/>
            <a:ext cx="914400" cy="914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4592" y="1325880"/>
            <a:ext cx="2926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Science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Engineering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164592" y="2331720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AE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N.K. Orchid College of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AE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&amp; Technology,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AE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Solapur.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274320" y="3182112"/>
            <a:ext cx="2651760" cy="22860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64592" y="3273552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64592" y="3547872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Name &amp; Roll No.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Name &amp; Roll No.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Name &amp; Roll No.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164592" y="4315968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AE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: TY Sem.-II  |  2025-26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3749040" y="502920"/>
            <a:ext cx="1371600" cy="29260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3749040" y="50292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A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PROJECT II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3566160" y="914400"/>
            <a:ext cx="5349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200" b="1" spc="200" kern="0" dirty="0">
                <a:solidFill>
                  <a:srgbClr val="7A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LifePilot</a:t>
            </a:r>
            <a:endParaRPr lang="en-US" sz="5200" dirty="0"/>
          </a:p>
        </p:txBody>
      </p:sp>
      <p:sp>
        <p:nvSpPr>
          <p:cNvPr id="14" name="Text 11"/>
          <p:cNvSpPr/>
          <p:nvPr/>
        </p:nvSpPr>
        <p:spPr>
          <a:xfrm>
            <a:off x="3566160" y="1828800"/>
            <a:ext cx="5349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6B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Food Delivery Agent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3566160" y="2359152"/>
            <a:ext cx="5120640" cy="3657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566160" y="2496312"/>
            <a:ext cx="960120" cy="274320"/>
          </a:xfrm>
          <a:prstGeom prst="rect">
            <a:avLst>
              <a:gd name="adj" fmla="val 16667"/>
            </a:avLst>
          </a:prstGeom>
          <a:solidFill>
            <a:srgbClr val="7A0000"/>
          </a:solidFill>
          <a:ln w="12700">
            <a:solidFill>
              <a:srgbClr val="7A000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566160" y="2496312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</a:t>
            </a:r>
            <a:endParaRPr lang="en-US" sz="700" dirty="0"/>
          </a:p>
        </p:txBody>
      </p:sp>
      <p:sp>
        <p:nvSpPr>
          <p:cNvPr id="18" name="Shape 15"/>
          <p:cNvSpPr/>
          <p:nvPr/>
        </p:nvSpPr>
        <p:spPr>
          <a:xfrm>
            <a:off x="4617720" y="2496312"/>
            <a:ext cx="960120" cy="274320"/>
          </a:xfrm>
          <a:prstGeom prst="rect">
            <a:avLst>
              <a:gd name="adj" fmla="val 16667"/>
            </a:avLst>
          </a:prstGeom>
          <a:solidFill>
            <a:srgbClr val="7A0000"/>
          </a:solidFill>
          <a:ln w="12700">
            <a:solidFill>
              <a:srgbClr val="7A000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617720" y="2496312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700" dirty="0"/>
          </a:p>
        </p:txBody>
      </p:sp>
      <p:sp>
        <p:nvSpPr>
          <p:cNvPr id="20" name="Shape 17"/>
          <p:cNvSpPr/>
          <p:nvPr/>
        </p:nvSpPr>
        <p:spPr>
          <a:xfrm>
            <a:off x="5669280" y="2496312"/>
            <a:ext cx="960120" cy="274320"/>
          </a:xfrm>
          <a:prstGeom prst="rect">
            <a:avLst>
              <a:gd name="adj" fmla="val 16667"/>
            </a:avLst>
          </a:prstGeom>
          <a:solidFill>
            <a:srgbClr val="7A0000"/>
          </a:solidFill>
          <a:ln w="12700">
            <a:solidFill>
              <a:srgbClr val="7A000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669280" y="2496312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700" dirty="0"/>
          </a:p>
        </p:txBody>
      </p:sp>
      <p:sp>
        <p:nvSpPr>
          <p:cNvPr id="22" name="Shape 19"/>
          <p:cNvSpPr/>
          <p:nvPr/>
        </p:nvSpPr>
        <p:spPr>
          <a:xfrm>
            <a:off x="6720840" y="2496312"/>
            <a:ext cx="960120" cy="274320"/>
          </a:xfrm>
          <a:prstGeom prst="rect">
            <a:avLst>
              <a:gd name="adj" fmla="val 16667"/>
            </a:avLst>
          </a:prstGeom>
          <a:solidFill>
            <a:srgbClr val="7A0000"/>
          </a:solidFill>
          <a:ln w="12700">
            <a:solidFill>
              <a:srgbClr val="7A000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720840" y="2496312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3.3</a:t>
            </a:r>
            <a:endParaRPr lang="en-US" sz="700" dirty="0"/>
          </a:p>
        </p:txBody>
      </p:sp>
      <p:sp>
        <p:nvSpPr>
          <p:cNvPr id="24" name="Shape 21"/>
          <p:cNvSpPr/>
          <p:nvPr/>
        </p:nvSpPr>
        <p:spPr>
          <a:xfrm>
            <a:off x="7772400" y="2496312"/>
            <a:ext cx="960120" cy="274320"/>
          </a:xfrm>
          <a:prstGeom prst="rect">
            <a:avLst>
              <a:gd name="adj" fmla="val 16667"/>
            </a:avLst>
          </a:prstGeom>
          <a:solidFill>
            <a:srgbClr val="7A0000"/>
          </a:solidFill>
          <a:ln w="12700">
            <a:solidFill>
              <a:srgbClr val="7A000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772400" y="2496312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TinyFish SDK</a:t>
            </a:r>
            <a:endParaRPr lang="en-US" sz="700" dirty="0"/>
          </a:p>
        </p:txBody>
      </p:sp>
      <p:sp>
        <p:nvSpPr>
          <p:cNvPr id="26" name="Text 23"/>
          <p:cNvSpPr/>
          <p:nvPr/>
        </p:nvSpPr>
        <p:spPr>
          <a:xfrm>
            <a:off x="3566160" y="2944368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guidance of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3566160" y="3182112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A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Guide Name</a:t>
            </a:r>
            <a:endParaRPr lang="en-US" sz="2000" dirty="0"/>
          </a:p>
        </p:txBody>
      </p:sp>
      <p:sp>
        <p:nvSpPr>
          <p:cNvPr id="28" name="Shape 25"/>
          <p:cNvSpPr/>
          <p:nvPr/>
        </p:nvSpPr>
        <p:spPr>
          <a:xfrm>
            <a:off x="0" y="4864608"/>
            <a:ext cx="9144000" cy="10972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7A0000"/>
          </a:solidFill>
          <a:ln w="12700">
            <a:solidFill>
              <a:srgbClr val="7A000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914400" y="4974336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N.K. Orchid College of Engineering &amp; Technology, Solapur  |  2025-26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DF5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01168"/>
            <a:ext cx="64008" cy="5029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164592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7A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Contents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987552"/>
            <a:ext cx="4160520" cy="1005840"/>
          </a:xfrm>
          <a:prstGeom prst="rect">
            <a:avLst/>
          </a:prstGeom>
          <a:solidFill>
            <a:srgbClr val="FFFBF0"/>
          </a:solidFill>
          <a:ln w="15240">
            <a:solidFill>
              <a:srgbClr val="D4A017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987552"/>
            <a:ext cx="502920" cy="1005840"/>
          </a:xfrm>
          <a:prstGeom prst="rect">
            <a:avLst/>
          </a:prstGeom>
          <a:solidFill>
            <a:srgbClr val="7A0000"/>
          </a:solidFill>
          <a:ln w="12700">
            <a:solidFill>
              <a:srgbClr val="7A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98755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1078992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7A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Introduction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1517904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6B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solution overview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800600" y="987552"/>
            <a:ext cx="4160520" cy="1005840"/>
          </a:xfrm>
          <a:prstGeom prst="rect">
            <a:avLst/>
          </a:prstGeom>
          <a:solidFill>
            <a:srgbClr val="FFFBF0"/>
          </a:solidFill>
          <a:ln w="15240">
            <a:solidFill>
              <a:srgbClr val="D4A017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00600" y="987552"/>
            <a:ext cx="502920" cy="1005840"/>
          </a:xfrm>
          <a:prstGeom prst="rect">
            <a:avLst/>
          </a:prstGeom>
          <a:solidFill>
            <a:srgbClr val="7A0000"/>
          </a:solidFill>
          <a:ln w="12700">
            <a:solidFill>
              <a:srgbClr val="7A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0600" y="98755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394960" y="1078992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7A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Objective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394960" y="1517904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6B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 &amp; technical targets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11480" y="2221992"/>
            <a:ext cx="4160520" cy="1005840"/>
          </a:xfrm>
          <a:prstGeom prst="rect">
            <a:avLst/>
          </a:prstGeom>
          <a:solidFill>
            <a:srgbClr val="FFFBF0"/>
          </a:solidFill>
          <a:ln w="15240">
            <a:solidFill>
              <a:srgbClr val="D4A017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11480" y="2221992"/>
            <a:ext cx="502920" cy="1005840"/>
          </a:xfrm>
          <a:prstGeom prst="rect">
            <a:avLst/>
          </a:prstGeom>
          <a:solidFill>
            <a:srgbClr val="7A0000"/>
          </a:solidFill>
          <a:ln w="12700">
            <a:solidFill>
              <a:srgbClr val="7A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222199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05840" y="2313432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7A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Methodology / Project Flow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05840" y="2752344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6B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execution pipeline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800600" y="2221992"/>
            <a:ext cx="4160520" cy="1005840"/>
          </a:xfrm>
          <a:prstGeom prst="rect">
            <a:avLst/>
          </a:prstGeom>
          <a:solidFill>
            <a:srgbClr val="FFFBF0"/>
          </a:solidFill>
          <a:ln w="15240">
            <a:solidFill>
              <a:srgbClr val="D4A017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00600" y="2221992"/>
            <a:ext cx="502920" cy="1005840"/>
          </a:xfrm>
          <a:prstGeom prst="rect">
            <a:avLst/>
          </a:prstGeom>
          <a:solidFill>
            <a:srgbClr val="7A0000"/>
          </a:solidFill>
          <a:ln w="12700">
            <a:solidFill>
              <a:srgbClr val="7A00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0600" y="222199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394960" y="2313432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7A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394960" y="2752344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6B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outcomes &amp; results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11480" y="3456432"/>
            <a:ext cx="4160520" cy="1005840"/>
          </a:xfrm>
          <a:prstGeom prst="rect">
            <a:avLst/>
          </a:prstGeom>
          <a:solidFill>
            <a:srgbClr val="FFFBF0"/>
          </a:solidFill>
          <a:ln w="15240">
            <a:solidFill>
              <a:srgbClr val="D4A017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11480" y="3456432"/>
            <a:ext cx="502920" cy="1005840"/>
          </a:xfrm>
          <a:prstGeom prst="rect">
            <a:avLst/>
          </a:prstGeom>
          <a:solidFill>
            <a:srgbClr val="7A0000"/>
          </a:solidFill>
          <a:ln w="12700">
            <a:solidFill>
              <a:srgbClr val="7A00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345643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005840" y="3547872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7A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Future Scope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05840" y="3986784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6B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enhancements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800600" y="3456432"/>
            <a:ext cx="4160520" cy="1005840"/>
          </a:xfrm>
          <a:prstGeom prst="rect">
            <a:avLst/>
          </a:prstGeom>
          <a:solidFill>
            <a:srgbClr val="FFFBF0"/>
          </a:solidFill>
          <a:ln w="15240">
            <a:solidFill>
              <a:srgbClr val="D4A017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00600" y="3456432"/>
            <a:ext cx="502920" cy="1005840"/>
          </a:xfrm>
          <a:prstGeom prst="rect">
            <a:avLst/>
          </a:prstGeom>
          <a:solidFill>
            <a:srgbClr val="7A0000"/>
          </a:solidFill>
          <a:ln w="12700">
            <a:solidFill>
              <a:srgbClr val="7A00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00600" y="345643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394960" y="3547872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7A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References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394960" y="3986784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6B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&amp; documentation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0" y="4864608"/>
            <a:ext cx="9144000" cy="10972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7A0000"/>
          </a:solidFill>
          <a:ln w="12700">
            <a:solidFill>
              <a:srgbClr val="7A0000"/>
            </a:solidFill>
            <a:prstDash val="solid"/>
          </a:ln>
        </p:spPr>
      </p:sp>
      <p:pic>
        <p:nvPicPr>
          <p:cNvPr id="3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" y="4846320"/>
            <a:ext cx="320040" cy="320040"/>
          </a:xfrm>
          <a:prstGeom prst="rect">
            <a:avLst/>
          </a:prstGeom>
        </p:spPr>
      </p:pic>
      <p:sp>
        <p:nvSpPr>
          <p:cNvPr id="37" name="Text 34"/>
          <p:cNvSpPr/>
          <p:nvPr/>
        </p:nvSpPr>
        <p:spPr>
          <a:xfrm>
            <a:off x="457200" y="4983480"/>
            <a:ext cx="1371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DD/MM/YY</a:t>
            </a:r>
            <a:endParaRPr lang="en-US" sz="700" dirty="0"/>
          </a:p>
        </p:txBody>
      </p:sp>
      <p:sp>
        <p:nvSpPr>
          <p:cNvPr id="38" name="Text 35"/>
          <p:cNvSpPr/>
          <p:nvPr/>
        </p:nvSpPr>
        <p:spPr>
          <a:xfrm>
            <a:off x="2286000" y="4983480"/>
            <a:ext cx="4572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LifePilot – AI Food Delivery Agent</a:t>
            </a:r>
            <a:endParaRPr lang="en-US" sz="700" dirty="0"/>
          </a:p>
        </p:txBody>
      </p:sp>
      <p:sp>
        <p:nvSpPr>
          <p:cNvPr id="39" name="Text 36"/>
          <p:cNvSpPr/>
          <p:nvPr/>
        </p:nvSpPr>
        <p:spPr>
          <a:xfrm>
            <a:off x="8229600" y="4983480"/>
            <a:ext cx="731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DF5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01168"/>
            <a:ext cx="64008" cy="5029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164592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7A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Introduction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960120"/>
            <a:ext cx="3931920" cy="3657600"/>
          </a:xfrm>
          <a:prstGeom prst="rect">
            <a:avLst/>
          </a:prstGeom>
          <a:solidFill>
            <a:srgbClr val="7A0000"/>
          </a:solidFill>
          <a:ln w="12700">
            <a:solidFill>
              <a:srgbClr val="7A00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024128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87552" y="102412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02920" y="1463040"/>
            <a:ext cx="3749040" cy="2743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02920" y="1572768"/>
            <a:ext cx="37490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waste excessive time manually navigating multiple food delivery apps (Swiggy, Zomato), comparing prices, and repetitively applying filters for location, diet, and budget — a frustrating and inefficient daily task.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02920" y="3035808"/>
            <a:ext cx="3749040" cy="384048"/>
          </a:xfrm>
          <a:prstGeom prst="rect">
            <a:avLst/>
          </a:prstGeom>
          <a:solidFill>
            <a:srgbClr val="600000">
              <a:alpha val="80000"/>
            </a:srgbClr>
          </a:solidFill>
          <a:ln w="6350">
            <a:solidFill>
              <a:srgbClr val="D4A01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66928" y="303580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D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Multiple apps, no single view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02920" y="3493008"/>
            <a:ext cx="3749040" cy="384048"/>
          </a:xfrm>
          <a:prstGeom prst="rect">
            <a:avLst/>
          </a:prstGeom>
          <a:solidFill>
            <a:srgbClr val="600000">
              <a:alpha val="80000"/>
            </a:srgbClr>
          </a:solidFill>
          <a:ln w="6350">
            <a:solidFill>
              <a:srgbClr val="D4A01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66928" y="349300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D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Manual price comparison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02920" y="3950208"/>
            <a:ext cx="3749040" cy="384048"/>
          </a:xfrm>
          <a:prstGeom prst="rect">
            <a:avLst/>
          </a:prstGeom>
          <a:solidFill>
            <a:srgbClr val="600000">
              <a:alpha val="80000"/>
            </a:srgbClr>
          </a:solidFill>
          <a:ln w="6350">
            <a:solidFill>
              <a:srgbClr val="D4A01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66928" y="395020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D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Repetitive filter setup every time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617720" y="960120"/>
            <a:ext cx="4114800" cy="3657600"/>
          </a:xfrm>
          <a:prstGeom prst="rect">
            <a:avLst/>
          </a:prstGeom>
          <a:solidFill>
            <a:srgbClr val="FFFBF0"/>
          </a:solidFill>
          <a:ln w="19050">
            <a:solidFill>
              <a:srgbClr val="D4A01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617720" y="960120"/>
            <a:ext cx="4114800" cy="5029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663440" y="96012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A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SOLUTION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4709160" y="1536192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C10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LifePilot is an intent-driven autonomous AI agent powered by LLMs and headless browser automation.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663440" y="2267712"/>
            <a:ext cx="3977640" cy="475488"/>
          </a:xfrm>
          <a:prstGeom prst="rect">
            <a:avLst/>
          </a:prstGeom>
          <a:solidFill>
            <a:srgbClr val="FDF5E0"/>
          </a:solidFill>
          <a:ln w="10160">
            <a:solidFill>
              <a:srgbClr val="E0C080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663440" y="2267712"/>
            <a:ext cx="292608" cy="475488"/>
          </a:xfrm>
          <a:prstGeom prst="rect">
            <a:avLst/>
          </a:prstGeom>
          <a:solidFill>
            <a:srgbClr val="7A0000"/>
          </a:solidFill>
          <a:ln w="12700">
            <a:solidFill>
              <a:srgbClr val="7A000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663440" y="2267712"/>
            <a:ext cx="2926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017"/>
                </a:solidFill>
              </a:rPr>
              <a:t>1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5029200" y="2267712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A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Natural Language Input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5029200" y="246888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types: "Find Veg Biryani under ₹300"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4663440" y="2816352"/>
            <a:ext cx="3977640" cy="475488"/>
          </a:xfrm>
          <a:prstGeom prst="rect">
            <a:avLst/>
          </a:prstGeom>
          <a:solidFill>
            <a:srgbClr val="FDF5E0"/>
          </a:solidFill>
          <a:ln w="10160">
            <a:solidFill>
              <a:srgbClr val="E0C080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4663440" y="2816352"/>
            <a:ext cx="292608" cy="475488"/>
          </a:xfrm>
          <a:prstGeom prst="rect">
            <a:avLst/>
          </a:prstGeom>
          <a:solidFill>
            <a:srgbClr val="7A0000"/>
          </a:solidFill>
          <a:ln w="12700">
            <a:solidFill>
              <a:srgbClr val="7A000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663440" y="2816352"/>
            <a:ext cx="2926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017"/>
                </a:solidFill>
              </a:rPr>
              <a:t>2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5029200" y="2816352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A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Understands Intent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5029200" y="301752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3.3 parses prompt + user profile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4663440" y="3364992"/>
            <a:ext cx="3977640" cy="475488"/>
          </a:xfrm>
          <a:prstGeom prst="rect">
            <a:avLst/>
          </a:prstGeom>
          <a:solidFill>
            <a:srgbClr val="FDF5E0"/>
          </a:solidFill>
          <a:ln w="10160">
            <a:solidFill>
              <a:srgbClr val="E0C080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4663440" y="3364992"/>
            <a:ext cx="292608" cy="475488"/>
          </a:xfrm>
          <a:prstGeom prst="rect">
            <a:avLst/>
          </a:prstGeom>
          <a:solidFill>
            <a:srgbClr val="7A0000"/>
          </a:solidFill>
          <a:ln w="12700">
            <a:solidFill>
              <a:srgbClr val="7A000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663440" y="3364992"/>
            <a:ext cx="2926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017"/>
                </a:solidFill>
              </a:rPr>
              <a:t>3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5029200" y="3364992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A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Autonomous Execution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5029200" y="356616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TinyFish browses Swiggy &amp; Zomato in parallel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4663440" y="3913632"/>
            <a:ext cx="3977640" cy="475488"/>
          </a:xfrm>
          <a:prstGeom prst="rect">
            <a:avLst/>
          </a:prstGeom>
          <a:solidFill>
            <a:srgbClr val="FDF5E0"/>
          </a:solidFill>
          <a:ln w="10160">
            <a:solidFill>
              <a:srgbClr val="E0C080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4663440" y="3913632"/>
            <a:ext cx="292608" cy="475488"/>
          </a:xfrm>
          <a:prstGeom prst="rect">
            <a:avLst/>
          </a:prstGeom>
          <a:solidFill>
            <a:srgbClr val="7A0000"/>
          </a:solidFill>
          <a:ln w="12700">
            <a:solidFill>
              <a:srgbClr val="7A0000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663440" y="3913632"/>
            <a:ext cx="2926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017"/>
                </a:solidFill>
              </a:rPr>
              <a:t>4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5029200" y="3913632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A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Ranked Results</a:t>
            </a:r>
            <a:endParaRPr lang="en-US" sz="1000" dirty="0"/>
          </a:p>
        </p:txBody>
      </p:sp>
      <p:sp>
        <p:nvSpPr>
          <p:cNvPr id="38" name="Text 35"/>
          <p:cNvSpPr/>
          <p:nvPr/>
        </p:nvSpPr>
        <p:spPr>
          <a:xfrm>
            <a:off x="5029200" y="411480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Deals ranked by True Price, shown instantly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0" y="4864608"/>
            <a:ext cx="9144000" cy="10972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7A0000"/>
          </a:solidFill>
          <a:ln w="12700">
            <a:solidFill>
              <a:srgbClr val="7A0000"/>
            </a:solidFill>
            <a:prstDash val="solid"/>
          </a:ln>
        </p:spPr>
      </p:sp>
      <p:pic>
        <p:nvPicPr>
          <p:cNvPr id="4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" y="4846320"/>
            <a:ext cx="320040" cy="320040"/>
          </a:xfrm>
          <a:prstGeom prst="rect">
            <a:avLst/>
          </a:prstGeom>
        </p:spPr>
      </p:pic>
      <p:sp>
        <p:nvSpPr>
          <p:cNvPr id="42" name="Text 38"/>
          <p:cNvSpPr/>
          <p:nvPr/>
        </p:nvSpPr>
        <p:spPr>
          <a:xfrm>
            <a:off x="457200" y="4983480"/>
            <a:ext cx="1371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DD/MM/YY</a:t>
            </a:r>
            <a:endParaRPr lang="en-US" sz="700" dirty="0"/>
          </a:p>
        </p:txBody>
      </p:sp>
      <p:sp>
        <p:nvSpPr>
          <p:cNvPr id="43" name="Text 39"/>
          <p:cNvSpPr/>
          <p:nvPr/>
        </p:nvSpPr>
        <p:spPr>
          <a:xfrm>
            <a:off x="2286000" y="4983480"/>
            <a:ext cx="4572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LifePilot – AI Food Delivery Agent</a:t>
            </a:r>
            <a:endParaRPr lang="en-US" sz="700" dirty="0"/>
          </a:p>
        </p:txBody>
      </p:sp>
      <p:sp>
        <p:nvSpPr>
          <p:cNvPr id="44" name="Text 40"/>
          <p:cNvSpPr/>
          <p:nvPr/>
        </p:nvSpPr>
        <p:spPr>
          <a:xfrm>
            <a:off x="8229600" y="4983480"/>
            <a:ext cx="731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DF5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01168"/>
            <a:ext cx="64008" cy="5029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164592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7A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Objective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987552"/>
            <a:ext cx="4133088" cy="1719072"/>
          </a:xfrm>
          <a:prstGeom prst="rect">
            <a:avLst/>
          </a:prstGeom>
          <a:solidFill>
            <a:srgbClr val="FFFBF0"/>
          </a:solidFill>
          <a:ln w="12700">
            <a:solidFill>
              <a:srgbClr val="D4A01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152144"/>
            <a:ext cx="502920" cy="502920"/>
          </a:xfrm>
          <a:prstGeom prst="oval">
            <a:avLst/>
          </a:prstGeom>
          <a:solidFill>
            <a:srgbClr val="7A0000"/>
          </a:solidFill>
          <a:ln w="12700">
            <a:solidFill>
              <a:srgbClr val="7A000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188720"/>
            <a:ext cx="402336" cy="4023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88720" y="1097280"/>
            <a:ext cx="32186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7A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Intelligent Web Automation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48640" y="1719072"/>
            <a:ext cx="3858768" cy="2286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8640" y="1792224"/>
            <a:ext cx="3858768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2C10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 context-aware web automation pipeline using the TinyFish SDK for autonomous browser control.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773168" y="987552"/>
            <a:ext cx="4133088" cy="1719072"/>
          </a:xfrm>
          <a:prstGeom prst="rect">
            <a:avLst/>
          </a:prstGeom>
          <a:solidFill>
            <a:srgbClr val="FFFBF0"/>
          </a:solidFill>
          <a:ln w="12700">
            <a:solidFill>
              <a:srgbClr val="D4A01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910328" y="1152144"/>
            <a:ext cx="502920" cy="502920"/>
          </a:xfrm>
          <a:prstGeom prst="oval">
            <a:avLst/>
          </a:prstGeom>
          <a:solidFill>
            <a:srgbClr val="5C1A00"/>
          </a:solidFill>
          <a:ln w="12700">
            <a:solidFill>
              <a:srgbClr val="5C1A00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6048" y="1188720"/>
            <a:ext cx="402336" cy="40233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550408" y="1097280"/>
            <a:ext cx="32186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7A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Secure User Profiling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4910328" y="1719072"/>
            <a:ext cx="3858768" cy="2286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4910328" y="1792224"/>
            <a:ext cx="3858768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2C10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MongoDB/JWT-based User Profiling System storing allergies, spice tolerance, delivery address, and budget.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411480" y="2862072"/>
            <a:ext cx="4133088" cy="1719072"/>
          </a:xfrm>
          <a:prstGeom prst="rect">
            <a:avLst/>
          </a:prstGeom>
          <a:solidFill>
            <a:srgbClr val="FFFBF0"/>
          </a:solidFill>
          <a:ln w="12700">
            <a:solidFill>
              <a:srgbClr val="D4A01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548640" y="3026664"/>
            <a:ext cx="502920" cy="502920"/>
          </a:xfrm>
          <a:prstGeom prst="oval">
            <a:avLst/>
          </a:prstGeom>
          <a:solidFill>
            <a:srgbClr val="006B6B"/>
          </a:solidFill>
          <a:ln w="12700">
            <a:solidFill>
              <a:srgbClr val="006B6B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3063240"/>
            <a:ext cx="402336" cy="40233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188720" y="2971800"/>
            <a:ext cx="32186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7A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Context Injection via LLM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548640" y="3593592"/>
            <a:ext cx="3858768" cy="2286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548640" y="3666744"/>
            <a:ext cx="3858768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2C10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natural language intents through LLaMA 3.3 70B (Groq API) to generate precise, machine-readable agent commands.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4773168" y="2862072"/>
            <a:ext cx="4133088" cy="1719072"/>
          </a:xfrm>
          <a:prstGeom prst="rect">
            <a:avLst/>
          </a:prstGeom>
          <a:solidFill>
            <a:srgbClr val="FFFBF0"/>
          </a:solidFill>
          <a:ln w="12700">
            <a:solidFill>
              <a:srgbClr val="D4A01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4910328" y="3026664"/>
            <a:ext cx="502920" cy="502920"/>
          </a:xfrm>
          <a:prstGeom prst="oval">
            <a:avLst/>
          </a:prstGeom>
          <a:solidFill>
            <a:srgbClr val="1A4A7A"/>
          </a:solidFill>
          <a:ln w="12700">
            <a:solidFill>
              <a:srgbClr val="1A4A7A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6048" y="3063240"/>
            <a:ext cx="402336" cy="402336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550408" y="2971800"/>
            <a:ext cx="32186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7A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Reduced Human Interaction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4910328" y="3593592"/>
            <a:ext cx="3858768" cy="2286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4910328" y="3666744"/>
            <a:ext cx="3858768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2C10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Drastically cut food discovery time by automating parallel deal comparison across isolated delivery platforms.</a:t>
            </a:r>
            <a:endParaRPr lang="en-US" sz="1050" dirty="0"/>
          </a:p>
        </p:txBody>
      </p:sp>
      <p:sp>
        <p:nvSpPr>
          <p:cNvPr id="28" name="Shape 22"/>
          <p:cNvSpPr/>
          <p:nvPr/>
        </p:nvSpPr>
        <p:spPr>
          <a:xfrm>
            <a:off x="0" y="4864608"/>
            <a:ext cx="9144000" cy="10972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7A0000"/>
          </a:solidFill>
          <a:ln w="12700">
            <a:solidFill>
              <a:srgbClr val="7A0000"/>
            </a:solidFill>
            <a:prstDash val="solid"/>
          </a:ln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" y="4846320"/>
            <a:ext cx="320040" cy="32004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457200" y="4983480"/>
            <a:ext cx="1371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DD/MM/YY</a:t>
            </a:r>
            <a:endParaRPr lang="en-US" sz="700" dirty="0"/>
          </a:p>
        </p:txBody>
      </p:sp>
      <p:sp>
        <p:nvSpPr>
          <p:cNvPr id="32" name="Text 25"/>
          <p:cNvSpPr/>
          <p:nvPr/>
        </p:nvSpPr>
        <p:spPr>
          <a:xfrm>
            <a:off x="2286000" y="4983480"/>
            <a:ext cx="4572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LifePilot – AI Food Delivery Agent</a:t>
            </a:r>
            <a:endParaRPr lang="en-US" sz="700" dirty="0"/>
          </a:p>
        </p:txBody>
      </p:sp>
      <p:sp>
        <p:nvSpPr>
          <p:cNvPr id="33" name="Text 26"/>
          <p:cNvSpPr/>
          <p:nvPr/>
        </p:nvSpPr>
        <p:spPr>
          <a:xfrm>
            <a:off x="8229600" y="4983480"/>
            <a:ext cx="731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DF5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01168"/>
            <a:ext cx="64008" cy="5029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164592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7A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Architecture &amp; Project Flow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82880" y="1051560"/>
            <a:ext cx="914400" cy="777240"/>
          </a:xfrm>
          <a:prstGeom prst="oval">
            <a:avLst/>
          </a:prstGeom>
          <a:solidFill>
            <a:srgbClr val="7A0000"/>
          </a:solidFill>
          <a:ln w="19050">
            <a:solidFill>
              <a:srgbClr val="D4A017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1752" y="1124712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82880" y="150876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A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1097280" y="1435608"/>
            <a:ext cx="502920" cy="0"/>
          </a:xfrm>
          <a:prstGeom prst="line">
            <a:avLst/>
          </a:prstGeom>
          <a:noFill/>
          <a:ln w="19050">
            <a:solidFill>
              <a:srgbClr val="7A000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78992" y="1234440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6B3A2A"/>
                </a:solidFill>
              </a:rPr>
              <a:t>Prompt</a:t>
            </a:r>
            <a:endParaRPr lang="en-US" sz="700" dirty="0"/>
          </a:p>
        </p:txBody>
      </p:sp>
      <p:sp>
        <p:nvSpPr>
          <p:cNvPr id="9" name="Shape 6"/>
          <p:cNvSpPr/>
          <p:nvPr/>
        </p:nvSpPr>
        <p:spPr>
          <a:xfrm>
            <a:off x="1600200" y="960120"/>
            <a:ext cx="1645920" cy="960120"/>
          </a:xfrm>
          <a:prstGeom prst="rect">
            <a:avLst/>
          </a:prstGeom>
          <a:solidFill>
            <a:srgbClr val="7A0000"/>
          </a:solidFill>
          <a:ln w="19050">
            <a:solidFill>
              <a:srgbClr val="D4A017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8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7360" y="1005840"/>
            <a:ext cx="347472" cy="34747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600200" y="137160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Frontend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1600200" y="160020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E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 + TailwindCSS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FFE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Zustand + Framer Motion</a:t>
            </a:r>
            <a:endParaRPr lang="en-US" sz="700" dirty="0"/>
          </a:p>
        </p:txBody>
      </p:sp>
      <p:sp>
        <p:nvSpPr>
          <p:cNvPr id="13" name="Shape 9"/>
          <p:cNvSpPr/>
          <p:nvPr/>
        </p:nvSpPr>
        <p:spPr>
          <a:xfrm>
            <a:off x="3246120" y="1435608"/>
            <a:ext cx="502920" cy="0"/>
          </a:xfrm>
          <a:prstGeom prst="line">
            <a:avLst/>
          </a:prstGeom>
          <a:noFill/>
          <a:ln w="19050">
            <a:solidFill>
              <a:srgbClr val="7A0000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3218688" y="1234440"/>
            <a:ext cx="5669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6B3A2A"/>
                </a:solidFill>
              </a:rPr>
              <a:t>REST API</a:t>
            </a:r>
            <a:endParaRPr lang="en-US" sz="700" dirty="0"/>
          </a:p>
        </p:txBody>
      </p:sp>
      <p:sp>
        <p:nvSpPr>
          <p:cNvPr id="15" name="Shape 11"/>
          <p:cNvSpPr/>
          <p:nvPr/>
        </p:nvSpPr>
        <p:spPr>
          <a:xfrm>
            <a:off x="3749040" y="960120"/>
            <a:ext cx="1645920" cy="960120"/>
          </a:xfrm>
          <a:prstGeom prst="rect">
            <a:avLst/>
          </a:prstGeom>
          <a:solidFill>
            <a:srgbClr val="1A4A7A"/>
          </a:solidFill>
          <a:ln w="19050">
            <a:solidFill>
              <a:srgbClr val="D4A017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8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5344" y="1005840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749040" y="13533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Backend Engine</a:t>
            </a:r>
            <a:endParaRPr lang="en-US" sz="1000" dirty="0"/>
          </a:p>
        </p:txBody>
      </p:sp>
      <p:sp>
        <p:nvSpPr>
          <p:cNvPr id="18" name="Text 13"/>
          <p:cNvSpPr/>
          <p:nvPr/>
        </p:nvSpPr>
        <p:spPr>
          <a:xfrm>
            <a:off x="3749040" y="160934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E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(Python)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FFE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 + Async</a:t>
            </a:r>
            <a:endParaRPr lang="en-US" sz="700" dirty="0"/>
          </a:p>
        </p:txBody>
      </p:sp>
      <p:sp>
        <p:nvSpPr>
          <p:cNvPr id="19" name="Shape 14"/>
          <p:cNvSpPr/>
          <p:nvPr/>
        </p:nvSpPr>
        <p:spPr>
          <a:xfrm>
            <a:off x="5394960" y="1435608"/>
            <a:ext cx="457200" cy="0"/>
          </a:xfrm>
          <a:prstGeom prst="line">
            <a:avLst/>
          </a:prstGeom>
          <a:noFill/>
          <a:ln w="19050">
            <a:solidFill>
              <a:srgbClr val="7A0000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5852160" y="960120"/>
            <a:ext cx="1463040" cy="960120"/>
          </a:xfrm>
          <a:prstGeom prst="rect">
            <a:avLst/>
          </a:prstGeom>
          <a:solidFill>
            <a:srgbClr val="1A5C2A"/>
          </a:solidFill>
          <a:ln w="19050">
            <a:solidFill>
              <a:srgbClr val="D4A017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8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8464" y="1005840"/>
            <a:ext cx="320040" cy="32004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852160" y="135331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MongoDB Atlas</a:t>
            </a:r>
            <a:endParaRPr lang="en-US" sz="950" dirty="0"/>
          </a:p>
        </p:txBody>
      </p:sp>
      <p:sp>
        <p:nvSpPr>
          <p:cNvPr id="23" name="Text 17"/>
          <p:cNvSpPr/>
          <p:nvPr/>
        </p:nvSpPr>
        <p:spPr>
          <a:xfrm>
            <a:off x="5852160" y="160934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A0F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Profiles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A0F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Data</a:t>
            </a:r>
            <a:endParaRPr lang="en-US" sz="750" dirty="0"/>
          </a:p>
        </p:txBody>
      </p:sp>
      <p:sp>
        <p:nvSpPr>
          <p:cNvPr id="24" name="Shape 18"/>
          <p:cNvSpPr/>
          <p:nvPr/>
        </p:nvSpPr>
        <p:spPr>
          <a:xfrm>
            <a:off x="4572000" y="1920240"/>
            <a:ext cx="0" cy="457200"/>
          </a:xfrm>
          <a:prstGeom prst="line">
            <a:avLst/>
          </a:prstGeom>
          <a:noFill/>
          <a:ln w="19050">
            <a:solidFill>
              <a:srgbClr val="D4A017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4160520" y="1993392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6B3A2A"/>
                </a:solidFill>
              </a:rPr>
              <a:t>Prompt + Profile</a:t>
            </a:r>
            <a:endParaRPr lang="en-US" sz="700" dirty="0"/>
          </a:p>
        </p:txBody>
      </p:sp>
      <p:sp>
        <p:nvSpPr>
          <p:cNvPr id="26" name="Shape 20"/>
          <p:cNvSpPr/>
          <p:nvPr/>
        </p:nvSpPr>
        <p:spPr>
          <a:xfrm>
            <a:off x="3291840" y="2377440"/>
            <a:ext cx="2560320" cy="914400"/>
          </a:xfrm>
          <a:prstGeom prst="rect">
            <a:avLst/>
          </a:prstGeom>
          <a:solidFill>
            <a:srgbClr val="006B6B"/>
          </a:solidFill>
          <a:ln w="25400">
            <a:solidFill>
              <a:srgbClr val="D4A01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01568" y="2441448"/>
            <a:ext cx="411480" cy="41148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3840480" y="240487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LLaMA 3.3 70B (Groq)</a:t>
            </a:r>
            <a:endParaRPr lang="en-US" sz="1100" dirty="0"/>
          </a:p>
        </p:txBody>
      </p:sp>
      <p:sp>
        <p:nvSpPr>
          <p:cNvPr id="29" name="Text 22"/>
          <p:cNvSpPr/>
          <p:nvPr/>
        </p:nvSpPr>
        <p:spPr>
          <a:xfrm>
            <a:off x="3401568" y="2798064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0F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Parsing + Context Injection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B0F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machine-readable agent goal</a:t>
            </a:r>
            <a:endParaRPr lang="en-US" sz="800" dirty="0"/>
          </a:p>
        </p:txBody>
      </p:sp>
      <p:sp>
        <p:nvSpPr>
          <p:cNvPr id="30" name="Shape 23"/>
          <p:cNvSpPr/>
          <p:nvPr/>
        </p:nvSpPr>
        <p:spPr>
          <a:xfrm>
            <a:off x="4572000" y="3291840"/>
            <a:ext cx="0" cy="411480"/>
          </a:xfrm>
          <a:prstGeom prst="line">
            <a:avLst/>
          </a:prstGeom>
          <a:noFill/>
          <a:ln w="19050">
            <a:solidFill>
              <a:srgbClr val="D4A017"/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4160520" y="3346704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6B3A2A"/>
                </a:solidFill>
              </a:rPr>
              <a:t>Agent Command</a:t>
            </a:r>
            <a:endParaRPr lang="en-US" sz="700" dirty="0"/>
          </a:p>
        </p:txBody>
      </p:sp>
      <p:sp>
        <p:nvSpPr>
          <p:cNvPr id="32" name="Shape 25"/>
          <p:cNvSpPr/>
          <p:nvPr/>
        </p:nvSpPr>
        <p:spPr>
          <a:xfrm>
            <a:off x="2926080" y="3703320"/>
            <a:ext cx="3291840" cy="749808"/>
          </a:xfrm>
          <a:prstGeom prst="rect">
            <a:avLst/>
          </a:prstGeom>
          <a:solidFill>
            <a:srgbClr val="7A0000"/>
          </a:solidFill>
          <a:ln w="25400">
            <a:solidFill>
              <a:srgbClr val="D4A01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35808" y="3767328"/>
            <a:ext cx="384048" cy="384048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3456432" y="3730752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TinyFish SDK — Headless Browser Agent</a:t>
            </a:r>
            <a:endParaRPr lang="en-US" sz="1050" dirty="0"/>
          </a:p>
        </p:txBody>
      </p:sp>
      <p:sp>
        <p:nvSpPr>
          <p:cNvPr id="35" name="Text 27"/>
          <p:cNvSpPr/>
          <p:nvPr/>
        </p:nvSpPr>
        <p:spPr>
          <a:xfrm>
            <a:off x="3456432" y="404164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E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browser automation on Swiggy &amp; Zomato simultaneously</a:t>
            </a:r>
            <a:endParaRPr lang="en-US" sz="800" dirty="0"/>
          </a:p>
        </p:txBody>
      </p:sp>
      <p:sp>
        <p:nvSpPr>
          <p:cNvPr id="36" name="Shape 28"/>
          <p:cNvSpPr/>
          <p:nvPr/>
        </p:nvSpPr>
        <p:spPr>
          <a:xfrm>
            <a:off x="3401568" y="4453128"/>
            <a:ext cx="-960120" cy="201168"/>
          </a:xfrm>
          <a:prstGeom prst="line">
            <a:avLst/>
          </a:prstGeom>
          <a:noFill/>
          <a:ln w="15240">
            <a:solidFill>
              <a:srgbClr val="7A0000"/>
            </a:solidFill>
            <a:prstDash val="solid"/>
          </a:ln>
        </p:spPr>
      </p:sp>
      <p:sp>
        <p:nvSpPr>
          <p:cNvPr id="37" name="Shape 29"/>
          <p:cNvSpPr/>
          <p:nvPr/>
        </p:nvSpPr>
        <p:spPr>
          <a:xfrm>
            <a:off x="5742432" y="4453128"/>
            <a:ext cx="960120" cy="201168"/>
          </a:xfrm>
          <a:prstGeom prst="line">
            <a:avLst/>
          </a:prstGeom>
          <a:noFill/>
          <a:ln w="15240">
            <a:solidFill>
              <a:srgbClr val="7A0000"/>
            </a:solidFill>
            <a:prstDash val="solid"/>
          </a:ln>
        </p:spPr>
      </p:sp>
      <p:sp>
        <p:nvSpPr>
          <p:cNvPr id="38" name="Shape 30"/>
          <p:cNvSpPr/>
          <p:nvPr/>
        </p:nvSpPr>
        <p:spPr>
          <a:xfrm>
            <a:off x="1005840" y="4636008"/>
            <a:ext cx="1463040" cy="228600"/>
          </a:xfrm>
          <a:prstGeom prst="rect">
            <a:avLst/>
          </a:prstGeom>
          <a:solidFill>
            <a:srgbClr val="E15F2C"/>
          </a:solidFill>
          <a:ln w="12700">
            <a:solidFill>
              <a:srgbClr val="E15F2C"/>
            </a:solidFill>
            <a:prstDash val="solid"/>
          </a:ln>
        </p:spPr>
      </p:sp>
      <p:sp>
        <p:nvSpPr>
          <p:cNvPr id="39" name="Text 31"/>
          <p:cNvSpPr/>
          <p:nvPr/>
        </p:nvSpPr>
        <p:spPr>
          <a:xfrm>
            <a:off x="1005840" y="463600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🛵  Swiggy</a:t>
            </a:r>
            <a:endParaRPr lang="en-US" sz="850" dirty="0"/>
          </a:p>
        </p:txBody>
      </p:sp>
      <p:sp>
        <p:nvSpPr>
          <p:cNvPr id="40" name="Shape 32"/>
          <p:cNvSpPr/>
          <p:nvPr/>
        </p:nvSpPr>
        <p:spPr>
          <a:xfrm>
            <a:off x="6675120" y="4636008"/>
            <a:ext cx="1417320" cy="228600"/>
          </a:xfrm>
          <a:prstGeom prst="rect">
            <a:avLst/>
          </a:prstGeom>
          <a:solidFill>
            <a:srgbClr val="CB202D"/>
          </a:solidFill>
          <a:ln w="12700">
            <a:solidFill>
              <a:srgbClr val="CB202D"/>
            </a:solidFill>
            <a:prstDash val="solid"/>
          </a:ln>
        </p:spPr>
      </p:sp>
      <p:sp>
        <p:nvSpPr>
          <p:cNvPr id="41" name="Text 33"/>
          <p:cNvSpPr/>
          <p:nvPr/>
        </p:nvSpPr>
        <p:spPr>
          <a:xfrm>
            <a:off x="6675120" y="4636008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🍴  Zomato</a:t>
            </a:r>
            <a:endParaRPr lang="en-US" sz="850" dirty="0"/>
          </a:p>
        </p:txBody>
      </p:sp>
      <p:sp>
        <p:nvSpPr>
          <p:cNvPr id="42" name="Text 34"/>
          <p:cNvSpPr/>
          <p:nvPr/>
        </p:nvSpPr>
        <p:spPr>
          <a:xfrm>
            <a:off x="3291840" y="4663440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B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Ranked by True Price</a:t>
            </a:r>
            <a:endParaRPr lang="en-US" sz="800" dirty="0"/>
          </a:p>
        </p:txBody>
      </p:sp>
      <p:sp>
        <p:nvSpPr>
          <p:cNvPr id="43" name="Shape 35"/>
          <p:cNvSpPr/>
          <p:nvPr/>
        </p:nvSpPr>
        <p:spPr>
          <a:xfrm>
            <a:off x="0" y="4864608"/>
            <a:ext cx="9144000" cy="10972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4" name="Shape 36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7A0000"/>
          </a:solidFill>
          <a:ln w="12700">
            <a:solidFill>
              <a:srgbClr val="7A0000"/>
            </a:solidFill>
            <a:prstDash val="solid"/>
          </a:ln>
        </p:spPr>
      </p:sp>
      <p:pic>
        <p:nvPicPr>
          <p:cNvPr id="4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52" y="4846320"/>
            <a:ext cx="320040" cy="320040"/>
          </a:xfrm>
          <a:prstGeom prst="rect">
            <a:avLst/>
          </a:prstGeom>
        </p:spPr>
      </p:pic>
      <p:sp>
        <p:nvSpPr>
          <p:cNvPr id="46" name="Text 37"/>
          <p:cNvSpPr/>
          <p:nvPr/>
        </p:nvSpPr>
        <p:spPr>
          <a:xfrm>
            <a:off x="457200" y="4983480"/>
            <a:ext cx="1371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DD/MM/YY</a:t>
            </a:r>
            <a:endParaRPr lang="en-US" sz="700" dirty="0"/>
          </a:p>
        </p:txBody>
      </p:sp>
      <p:sp>
        <p:nvSpPr>
          <p:cNvPr id="47" name="Text 38"/>
          <p:cNvSpPr/>
          <p:nvPr/>
        </p:nvSpPr>
        <p:spPr>
          <a:xfrm>
            <a:off x="2286000" y="4983480"/>
            <a:ext cx="4572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LifePilot – AI Food Delivery Agent</a:t>
            </a:r>
            <a:endParaRPr lang="en-US" sz="700" dirty="0"/>
          </a:p>
        </p:txBody>
      </p:sp>
      <p:sp>
        <p:nvSpPr>
          <p:cNvPr id="48" name="Text 39"/>
          <p:cNvSpPr/>
          <p:nvPr/>
        </p:nvSpPr>
        <p:spPr>
          <a:xfrm>
            <a:off x="8229600" y="4983480"/>
            <a:ext cx="731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DF5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01168"/>
            <a:ext cx="64008" cy="5029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164592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7A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Methodology / Project Flow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1005840"/>
            <a:ext cx="3840480" cy="658368"/>
          </a:xfrm>
          <a:prstGeom prst="rect">
            <a:avLst/>
          </a:prstGeom>
          <a:solidFill>
            <a:srgbClr val="FFFBF0"/>
          </a:solidFill>
          <a:ln w="10160">
            <a:solidFill>
              <a:srgbClr val="D4A017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1005840"/>
            <a:ext cx="73152" cy="658368"/>
          </a:xfrm>
          <a:prstGeom prst="rect">
            <a:avLst/>
          </a:prstGeom>
          <a:solidFill>
            <a:srgbClr val="7A0000"/>
          </a:solidFill>
          <a:ln w="12700">
            <a:solidFill>
              <a:srgbClr val="7A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76072" y="10515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A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Frontend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76072" y="13258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10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 • TailwindCSS • Zustand • Framer Motion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11480" y="1773936"/>
            <a:ext cx="3840480" cy="658368"/>
          </a:xfrm>
          <a:prstGeom prst="rect">
            <a:avLst/>
          </a:prstGeom>
          <a:solidFill>
            <a:srgbClr val="FFFBF0"/>
          </a:solidFill>
          <a:ln w="10160">
            <a:solidFill>
              <a:srgbClr val="D4A017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11480" y="1773936"/>
            <a:ext cx="73152" cy="658368"/>
          </a:xfrm>
          <a:prstGeom prst="rect">
            <a:avLst/>
          </a:prstGeom>
          <a:solidFill>
            <a:srgbClr val="1A4A7A"/>
          </a:solidFill>
          <a:ln w="12700">
            <a:solidFill>
              <a:srgbClr val="1A4A7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76072" y="181965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4A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Backend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76072" y="209397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10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(Python) • JWT Authentication • Async I/O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11480" y="2542032"/>
            <a:ext cx="3840480" cy="658368"/>
          </a:xfrm>
          <a:prstGeom prst="rect">
            <a:avLst/>
          </a:prstGeom>
          <a:solidFill>
            <a:srgbClr val="FFFBF0"/>
          </a:solidFill>
          <a:ln w="10160">
            <a:solidFill>
              <a:srgbClr val="D4A017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11480" y="2542032"/>
            <a:ext cx="73152" cy="658368"/>
          </a:xfrm>
          <a:prstGeom prst="rect">
            <a:avLst/>
          </a:prstGeom>
          <a:solidFill>
            <a:srgbClr val="1A5C2A"/>
          </a:solidFill>
          <a:ln w="12700">
            <a:solidFill>
              <a:srgbClr val="1A5C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76072" y="258775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Database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76072" y="286207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10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Atlas — Encrypted user profiles &amp; state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11480" y="3310128"/>
            <a:ext cx="3840480" cy="658368"/>
          </a:xfrm>
          <a:prstGeom prst="rect">
            <a:avLst/>
          </a:prstGeom>
          <a:solidFill>
            <a:srgbClr val="FFFBF0"/>
          </a:solidFill>
          <a:ln w="10160">
            <a:solidFill>
              <a:srgbClr val="D4A017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11480" y="3310128"/>
            <a:ext cx="73152" cy="658368"/>
          </a:xfrm>
          <a:prstGeom prst="rect">
            <a:avLst/>
          </a:prstGeom>
          <a:solidFill>
            <a:srgbClr val="006B6B"/>
          </a:solidFill>
          <a:ln w="12700">
            <a:solidFill>
              <a:srgbClr val="006B6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6072" y="335584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Engine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76072" y="363016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10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3.3 70B via Groq API — Intent parsing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11480" y="4078224"/>
            <a:ext cx="3840480" cy="658368"/>
          </a:xfrm>
          <a:prstGeom prst="rect">
            <a:avLst/>
          </a:prstGeom>
          <a:solidFill>
            <a:srgbClr val="FFFBF0"/>
          </a:solidFill>
          <a:ln w="10160">
            <a:solidFill>
              <a:srgbClr val="D4A017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11480" y="4078224"/>
            <a:ext cx="73152" cy="658368"/>
          </a:xfrm>
          <a:prstGeom prst="rect">
            <a:avLst/>
          </a:prstGeom>
          <a:solidFill>
            <a:srgbClr val="7A3500"/>
          </a:solidFill>
          <a:ln w="12700">
            <a:solidFill>
              <a:srgbClr val="7A35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76072" y="412394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A35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Automation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76072" y="439826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10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TinyFish SDK — Headless parallel browser control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480560" y="960120"/>
            <a:ext cx="4251960" cy="3749040"/>
          </a:xfrm>
          <a:prstGeom prst="rect">
            <a:avLst/>
          </a:prstGeom>
          <a:solidFill>
            <a:srgbClr val="FFFBF0"/>
          </a:solidFill>
          <a:ln w="15240">
            <a:solidFill>
              <a:srgbClr val="D4A01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480560" y="960120"/>
            <a:ext cx="4251960" cy="384048"/>
          </a:xfrm>
          <a:prstGeom prst="rect">
            <a:avLst/>
          </a:prstGeom>
          <a:solidFill>
            <a:srgbClr val="7A0000"/>
          </a:solidFill>
          <a:ln w="12700">
            <a:solidFill>
              <a:srgbClr val="7A00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480560" y="960120"/>
            <a:ext cx="4251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Execution Flow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882896" y="1883664"/>
            <a:ext cx="0" cy="201168"/>
          </a:xfrm>
          <a:prstGeom prst="line">
            <a:avLst/>
          </a:prstGeom>
          <a:noFill/>
          <a:ln w="12700">
            <a:solidFill>
              <a:srgbClr val="D4A01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17720" y="1444752"/>
            <a:ext cx="530352" cy="438912"/>
          </a:xfrm>
          <a:prstGeom prst="oval">
            <a:avLst/>
          </a:prstGeom>
          <a:solidFill>
            <a:srgbClr val="7A0000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17720" y="1444752"/>
            <a:ext cx="5303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A017"/>
                </a:solidFill>
              </a:rPr>
              <a:t>1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239512" y="1444752"/>
            <a:ext cx="3337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A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INPUT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239512" y="1664208"/>
            <a:ext cx="3337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2C10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submits a vague natural language prompt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882896" y="2523744"/>
            <a:ext cx="0" cy="201168"/>
          </a:xfrm>
          <a:prstGeom prst="line">
            <a:avLst/>
          </a:prstGeom>
          <a:noFill/>
          <a:ln w="12700">
            <a:solidFill>
              <a:srgbClr val="D4A01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617720" y="2084832"/>
            <a:ext cx="530352" cy="438912"/>
          </a:xfrm>
          <a:prstGeom prst="oval">
            <a:avLst/>
          </a:prstGeom>
          <a:solidFill>
            <a:srgbClr val="7A0000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17720" y="2084832"/>
            <a:ext cx="5303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A017"/>
                </a:solidFill>
              </a:rPr>
              <a:t>2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239512" y="2084832"/>
            <a:ext cx="3337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A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INJECTION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239512" y="2304288"/>
            <a:ext cx="3337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2C10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retrieves user profile (allergies, address) from MongoDB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882896" y="3163824"/>
            <a:ext cx="0" cy="201168"/>
          </a:xfrm>
          <a:prstGeom prst="line">
            <a:avLst/>
          </a:prstGeom>
          <a:noFill/>
          <a:ln w="12700">
            <a:solidFill>
              <a:srgbClr val="D4A017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617720" y="2724912"/>
            <a:ext cx="530352" cy="438912"/>
          </a:xfrm>
          <a:prstGeom prst="oval">
            <a:avLst/>
          </a:prstGeom>
          <a:solidFill>
            <a:srgbClr val="7A0000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617720" y="2724912"/>
            <a:ext cx="5303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A017"/>
                </a:solidFill>
              </a:rPr>
              <a:t>3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5239512" y="2724912"/>
            <a:ext cx="3337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A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TRANSLATION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239512" y="2944368"/>
            <a:ext cx="3337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2C10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converts input + profile into strict machine-readable goal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4882896" y="3803904"/>
            <a:ext cx="0" cy="201168"/>
          </a:xfrm>
          <a:prstGeom prst="line">
            <a:avLst/>
          </a:prstGeom>
          <a:noFill/>
          <a:ln w="12700">
            <a:solidFill>
              <a:srgbClr val="D4A017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617720" y="3364992"/>
            <a:ext cx="530352" cy="438912"/>
          </a:xfrm>
          <a:prstGeom prst="oval">
            <a:avLst/>
          </a:prstGeom>
          <a:solidFill>
            <a:srgbClr val="7A0000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617720" y="3364992"/>
            <a:ext cx="5303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A017"/>
                </a:solidFill>
              </a:rPr>
              <a:t>4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5239512" y="3364992"/>
            <a:ext cx="3337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A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AUTOMATION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5239512" y="3584448"/>
            <a:ext cx="3337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2C10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TinyFish launches headless browsers on Swiggy &amp; Zomato simultaneously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4617720" y="4005072"/>
            <a:ext cx="530352" cy="438912"/>
          </a:xfrm>
          <a:prstGeom prst="oval">
            <a:avLst/>
          </a:prstGeom>
          <a:solidFill>
            <a:srgbClr val="7A0000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617720" y="4005072"/>
            <a:ext cx="5303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A017"/>
                </a:solidFill>
              </a:rPr>
              <a:t>5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5239512" y="4005072"/>
            <a:ext cx="3337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A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OUTPUT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239512" y="4224528"/>
            <a:ext cx="3337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2C10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extracted, ranked by True Price, displayed to user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0" y="4864608"/>
            <a:ext cx="9144000" cy="10972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7A0000"/>
          </a:solidFill>
          <a:ln w="12700">
            <a:solidFill>
              <a:srgbClr val="7A0000"/>
            </a:solidFill>
            <a:prstDash val="solid"/>
          </a:ln>
        </p:spPr>
      </p:sp>
      <p:pic>
        <p:nvPicPr>
          <p:cNvPr id="5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" y="4846320"/>
            <a:ext cx="320040" cy="320040"/>
          </a:xfrm>
          <a:prstGeom prst="rect">
            <a:avLst/>
          </a:prstGeom>
        </p:spPr>
      </p:pic>
      <p:sp>
        <p:nvSpPr>
          <p:cNvPr id="54" name="Text 51"/>
          <p:cNvSpPr/>
          <p:nvPr/>
        </p:nvSpPr>
        <p:spPr>
          <a:xfrm>
            <a:off x="457200" y="4983480"/>
            <a:ext cx="1371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DD/MM/YY</a:t>
            </a:r>
            <a:endParaRPr lang="en-US" sz="700" dirty="0"/>
          </a:p>
        </p:txBody>
      </p:sp>
      <p:sp>
        <p:nvSpPr>
          <p:cNvPr id="55" name="Text 52"/>
          <p:cNvSpPr/>
          <p:nvPr/>
        </p:nvSpPr>
        <p:spPr>
          <a:xfrm>
            <a:off x="2286000" y="4983480"/>
            <a:ext cx="4572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LifePilot – AI Food Delivery Agent</a:t>
            </a:r>
            <a:endParaRPr lang="en-US" sz="700" dirty="0"/>
          </a:p>
        </p:txBody>
      </p:sp>
      <p:sp>
        <p:nvSpPr>
          <p:cNvPr id="56" name="Text 53"/>
          <p:cNvSpPr/>
          <p:nvPr/>
        </p:nvSpPr>
        <p:spPr>
          <a:xfrm>
            <a:off x="8229600" y="4983480"/>
            <a:ext cx="731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DF5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01168"/>
            <a:ext cx="64008" cy="5029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164592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7A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987552"/>
            <a:ext cx="8321040" cy="1143000"/>
          </a:xfrm>
          <a:prstGeom prst="rect">
            <a:avLst/>
          </a:prstGeom>
          <a:solidFill>
            <a:srgbClr val="FFFBF0"/>
          </a:solidFill>
          <a:ln w="12700">
            <a:solidFill>
              <a:srgbClr val="D4A017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987552"/>
            <a:ext cx="914400" cy="1143000"/>
          </a:xfrm>
          <a:prstGeom prst="rect">
            <a:avLst/>
          </a:prstGeom>
          <a:solidFill>
            <a:srgbClr val="7A0000"/>
          </a:solidFill>
          <a:ln w="12700">
            <a:solidFill>
              <a:srgbClr val="7A000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335024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44752" y="1078992"/>
            <a:ext cx="7132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A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LLM as Intent Bridge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1444752" y="1490472"/>
            <a:ext cx="7040880" cy="1828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444752" y="1554480"/>
            <a:ext cx="7132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10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Demonstrated that Large Language Models can effectively bridge human intent and complex web UI interactions without manual intervention.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11480" y="2286000"/>
            <a:ext cx="8321040" cy="1143000"/>
          </a:xfrm>
          <a:prstGeom prst="rect">
            <a:avLst/>
          </a:prstGeom>
          <a:solidFill>
            <a:srgbClr val="FFFBF0"/>
          </a:solidFill>
          <a:ln w="12700">
            <a:solidFill>
              <a:srgbClr val="D4A017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11480" y="2286000"/>
            <a:ext cx="914400" cy="1143000"/>
          </a:xfrm>
          <a:prstGeom prst="rect">
            <a:avLst/>
          </a:prstGeom>
          <a:solidFill>
            <a:srgbClr val="1A4A7A"/>
          </a:solidFill>
          <a:ln w="12700">
            <a:solidFill>
              <a:srgbClr val="1A4A7A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633472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444752" y="2377440"/>
            <a:ext cx="7132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A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Proactive Safety via Profiles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1444752" y="2788920"/>
            <a:ext cx="7040880" cy="1828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1444752" y="2852928"/>
            <a:ext cx="7132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10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user profiles improved AI safety and speed by injecting allergy avoidance and exact delivery constraints before web execution.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411480" y="3584448"/>
            <a:ext cx="8321040" cy="1143000"/>
          </a:xfrm>
          <a:prstGeom prst="rect">
            <a:avLst/>
          </a:prstGeom>
          <a:solidFill>
            <a:srgbClr val="FFFBF0"/>
          </a:solidFill>
          <a:ln w="12700">
            <a:solidFill>
              <a:srgbClr val="D4A017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11480" y="3584448"/>
            <a:ext cx="914400" cy="1143000"/>
          </a:xfrm>
          <a:prstGeom prst="rect">
            <a:avLst/>
          </a:prstGeom>
          <a:solidFill>
            <a:srgbClr val="006B6B"/>
          </a:solidFill>
          <a:ln w="12700">
            <a:solidFill>
              <a:srgbClr val="006B6B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3931920"/>
            <a:ext cx="457200" cy="4572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444752" y="3675888"/>
            <a:ext cx="7132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A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Parallel Execution Success</a:t>
            </a:r>
            <a:endParaRPr lang="en-US" sz="1400" dirty="0"/>
          </a:p>
        </p:txBody>
      </p:sp>
      <p:sp>
        <p:nvSpPr>
          <p:cNvPr id="20" name="Shape 15"/>
          <p:cNvSpPr/>
          <p:nvPr/>
        </p:nvSpPr>
        <p:spPr>
          <a:xfrm>
            <a:off x="1444752" y="4087368"/>
            <a:ext cx="7040880" cy="1828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1444752" y="4151376"/>
            <a:ext cx="7132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10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Achieved simultaneous multi-platform automation — effectively eliminating tedious manual deal comparison across isolated apps.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0" y="4864608"/>
            <a:ext cx="9144000" cy="10972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7A0000"/>
          </a:solidFill>
          <a:ln w="12700">
            <a:solidFill>
              <a:srgbClr val="7A0000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" y="4846320"/>
            <a:ext cx="320040" cy="32004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457200" y="4983480"/>
            <a:ext cx="1371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DD/MM/YY</a:t>
            </a:r>
            <a:endParaRPr lang="en-US" sz="700" dirty="0"/>
          </a:p>
        </p:txBody>
      </p:sp>
      <p:sp>
        <p:nvSpPr>
          <p:cNvPr id="26" name="Text 20"/>
          <p:cNvSpPr/>
          <p:nvPr/>
        </p:nvSpPr>
        <p:spPr>
          <a:xfrm>
            <a:off x="2286000" y="4983480"/>
            <a:ext cx="4572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LifePilot – AI Food Delivery Agent</a:t>
            </a:r>
            <a:endParaRPr lang="en-US" sz="700" dirty="0"/>
          </a:p>
        </p:txBody>
      </p:sp>
      <p:sp>
        <p:nvSpPr>
          <p:cNvPr id="27" name="Text 21"/>
          <p:cNvSpPr/>
          <p:nvPr/>
        </p:nvSpPr>
        <p:spPr>
          <a:xfrm>
            <a:off x="8229600" y="4983480"/>
            <a:ext cx="731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DF5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01168"/>
            <a:ext cx="64008" cy="5029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164592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7A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Future Scope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2743200" cy="3749040"/>
          </a:xfrm>
          <a:prstGeom prst="rect">
            <a:avLst/>
          </a:prstGeom>
          <a:solidFill>
            <a:srgbClr val="FFFBF0"/>
          </a:solidFill>
          <a:ln w="12700">
            <a:solidFill>
              <a:srgbClr val="D4A01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60120"/>
            <a:ext cx="2743200" cy="1005840"/>
          </a:xfrm>
          <a:prstGeom prst="rect">
            <a:avLst/>
          </a:prstGeom>
          <a:solidFill>
            <a:srgbClr val="7A0000"/>
          </a:solidFill>
          <a:ln w="12700">
            <a:solidFill>
              <a:srgbClr val="7A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80160" y="1078992"/>
            <a:ext cx="804672" cy="804672"/>
          </a:xfrm>
          <a:prstGeom prst="oval">
            <a:avLst/>
          </a:prstGeom>
          <a:solidFill>
            <a:srgbClr val="FFFFFF">
              <a:alpha val="80000"/>
            </a:srgbClr>
          </a:solidFill>
          <a:ln w="19050">
            <a:solidFill>
              <a:srgbClr val="D4A017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89888" y="1170432"/>
            <a:ext cx="594360" cy="5943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29768" y="2029968"/>
            <a:ext cx="252374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A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Browser Streaming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" y="2724912"/>
            <a:ext cx="2286000" cy="2286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2788920"/>
            <a:ext cx="24688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C10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the live browser rendering feed on the frontend so users can watch the AI click and type in real-time, enhancing trust and transparency.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200400" y="960120"/>
            <a:ext cx="2743200" cy="3749040"/>
          </a:xfrm>
          <a:prstGeom prst="rect">
            <a:avLst/>
          </a:prstGeom>
          <a:solidFill>
            <a:srgbClr val="FFFBF0"/>
          </a:solidFill>
          <a:ln w="12700">
            <a:solidFill>
              <a:srgbClr val="D4A01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00400" y="960120"/>
            <a:ext cx="2743200" cy="1005840"/>
          </a:xfrm>
          <a:prstGeom prst="rect">
            <a:avLst/>
          </a:prstGeom>
          <a:solidFill>
            <a:srgbClr val="1A4A7A"/>
          </a:solidFill>
          <a:ln w="12700">
            <a:solidFill>
              <a:srgbClr val="1A4A7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160520" y="1078992"/>
            <a:ext cx="804672" cy="804672"/>
          </a:xfrm>
          <a:prstGeom prst="oval">
            <a:avLst/>
          </a:prstGeom>
          <a:solidFill>
            <a:srgbClr val="FFFFFF">
              <a:alpha val="80000"/>
            </a:srgbClr>
          </a:solidFill>
          <a:ln w="19050">
            <a:solidFill>
              <a:srgbClr val="D4A017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0248" y="1170432"/>
            <a:ext cx="594360" cy="5943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310128" y="2029968"/>
            <a:ext cx="252374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A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Automated Cart Staging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3429000" y="2724912"/>
            <a:ext cx="2286000" cy="2286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3337560" y="2788920"/>
            <a:ext cx="24688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C10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Upgrade the agent to securely log into the user's Swiggy/Zomato account via session cookies and auto-stage items for one-click checkout.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6080760" y="960120"/>
            <a:ext cx="2743200" cy="3749040"/>
          </a:xfrm>
          <a:prstGeom prst="rect">
            <a:avLst/>
          </a:prstGeom>
          <a:solidFill>
            <a:srgbClr val="FFFBF0"/>
          </a:solidFill>
          <a:ln w="12700">
            <a:solidFill>
              <a:srgbClr val="D4A01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080760" y="960120"/>
            <a:ext cx="2743200" cy="1005840"/>
          </a:xfrm>
          <a:prstGeom prst="rect">
            <a:avLst/>
          </a:prstGeom>
          <a:solidFill>
            <a:srgbClr val="006B6B"/>
          </a:solidFill>
          <a:ln w="12700">
            <a:solidFill>
              <a:srgbClr val="006B6B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040880" y="1078992"/>
            <a:ext cx="804672" cy="804672"/>
          </a:xfrm>
          <a:prstGeom prst="oval">
            <a:avLst/>
          </a:prstGeom>
          <a:solidFill>
            <a:srgbClr val="FFFFFF">
              <a:alpha val="80000"/>
            </a:srgbClr>
          </a:solidFill>
          <a:ln w="19050">
            <a:solidFill>
              <a:srgbClr val="D4A017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0608" y="1170432"/>
            <a:ext cx="594360" cy="59436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190488" y="2029968"/>
            <a:ext cx="252374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A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Platform Expansion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6309360" y="2724912"/>
            <a:ext cx="2286000" cy="2286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6217920" y="2788920"/>
            <a:ext cx="24688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C10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 the agent beyond food delivery to grocery shopping (Zepto/Blinkit) and travel booking (MakeMyTrip/IRCTC).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0" y="4864608"/>
            <a:ext cx="9144000" cy="10972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7A0000"/>
          </a:solidFill>
          <a:ln w="12700">
            <a:solidFill>
              <a:srgbClr val="7A0000"/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" y="4846320"/>
            <a:ext cx="320040" cy="32004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457200" y="4983480"/>
            <a:ext cx="1371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DD/MM/YY</a:t>
            </a:r>
            <a:endParaRPr lang="en-US" sz="700" dirty="0"/>
          </a:p>
        </p:txBody>
      </p:sp>
      <p:sp>
        <p:nvSpPr>
          <p:cNvPr id="29" name="Text 23"/>
          <p:cNvSpPr/>
          <p:nvPr/>
        </p:nvSpPr>
        <p:spPr>
          <a:xfrm>
            <a:off x="2286000" y="4983480"/>
            <a:ext cx="4572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LifePilot – AI Food Delivery Agent</a:t>
            </a:r>
            <a:endParaRPr lang="en-US" sz="700" dirty="0"/>
          </a:p>
        </p:txBody>
      </p:sp>
      <p:sp>
        <p:nvSpPr>
          <p:cNvPr id="30" name="Text 24"/>
          <p:cNvSpPr/>
          <p:nvPr/>
        </p:nvSpPr>
        <p:spPr>
          <a:xfrm>
            <a:off x="8229600" y="4983480"/>
            <a:ext cx="731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DF5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01168"/>
            <a:ext cx="64008" cy="5029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164592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7A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References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1005840"/>
            <a:ext cx="8321040" cy="658368"/>
          </a:xfrm>
          <a:prstGeom prst="rect">
            <a:avLst/>
          </a:prstGeom>
          <a:solidFill>
            <a:srgbClr val="FFFBF0"/>
          </a:solidFill>
          <a:ln w="10160">
            <a:solidFill>
              <a:srgbClr val="D4A017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1005840"/>
            <a:ext cx="502920" cy="658368"/>
          </a:xfrm>
          <a:prstGeom prst="rect">
            <a:avLst/>
          </a:prstGeom>
          <a:solidFill>
            <a:srgbClr val="7A0000"/>
          </a:solidFill>
          <a:ln w="12700">
            <a:solidFill>
              <a:srgbClr val="7A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05840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[1]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" y="1060704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A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TinyFish SDK Documentation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005840" y="1353312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Web Agents — browser automation framework for AI-driven tasks.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11480" y="1773936"/>
            <a:ext cx="8321040" cy="658368"/>
          </a:xfrm>
          <a:prstGeom prst="rect">
            <a:avLst/>
          </a:prstGeom>
          <a:solidFill>
            <a:srgbClr val="FFFBF0"/>
          </a:solidFill>
          <a:ln w="10160">
            <a:solidFill>
              <a:srgbClr val="D4A017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11480" y="1773936"/>
            <a:ext cx="502920" cy="658368"/>
          </a:xfrm>
          <a:prstGeom prst="rect">
            <a:avLst/>
          </a:prstGeom>
          <a:solidFill>
            <a:srgbClr val="7A0000"/>
          </a:solidFill>
          <a:ln w="12700">
            <a:solidFill>
              <a:srgbClr val="7A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773936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[2]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05840" y="182880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A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Groq Cloud API Documentation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1005840" y="2121408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3.3 70B inference engine — ultra-fast LLM API for production use.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11480" y="2542032"/>
            <a:ext cx="8321040" cy="658368"/>
          </a:xfrm>
          <a:prstGeom prst="rect">
            <a:avLst/>
          </a:prstGeom>
          <a:solidFill>
            <a:srgbClr val="FFFBF0"/>
          </a:solidFill>
          <a:ln w="10160">
            <a:solidFill>
              <a:srgbClr val="D4A017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11480" y="2542032"/>
            <a:ext cx="502920" cy="658368"/>
          </a:xfrm>
          <a:prstGeom prst="rect">
            <a:avLst/>
          </a:prstGeom>
          <a:solidFill>
            <a:srgbClr val="7A0000"/>
          </a:solidFill>
          <a:ln w="12700">
            <a:solidFill>
              <a:srgbClr val="7A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2542032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[3]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05840" y="2596896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A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FastAPI Framework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1005840" y="2889504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Modern, high-performance Python web framework for building APIs.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11480" y="3310128"/>
            <a:ext cx="8321040" cy="658368"/>
          </a:xfrm>
          <a:prstGeom prst="rect">
            <a:avLst/>
          </a:prstGeom>
          <a:solidFill>
            <a:srgbClr val="FFFBF0"/>
          </a:solidFill>
          <a:ln w="10160">
            <a:solidFill>
              <a:srgbClr val="D4A017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11480" y="3310128"/>
            <a:ext cx="502920" cy="658368"/>
          </a:xfrm>
          <a:prstGeom prst="rect">
            <a:avLst/>
          </a:prstGeom>
          <a:solidFill>
            <a:srgbClr val="7A0000"/>
          </a:solidFill>
          <a:ln w="12700">
            <a:solidFill>
              <a:srgbClr val="7A00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3310128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[4]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05840" y="3364992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A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MongoDB Atlas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1005840" y="3657600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Cloud-hosted NoSQL database — distributed data platform for applications.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11480" y="4078224"/>
            <a:ext cx="8321040" cy="658368"/>
          </a:xfrm>
          <a:prstGeom prst="rect">
            <a:avLst/>
          </a:prstGeom>
          <a:solidFill>
            <a:srgbClr val="FFFBF0"/>
          </a:solidFill>
          <a:ln w="10160">
            <a:solidFill>
              <a:srgbClr val="D4A017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11480" y="4078224"/>
            <a:ext cx="502920" cy="658368"/>
          </a:xfrm>
          <a:prstGeom prst="rect">
            <a:avLst/>
          </a:prstGeom>
          <a:solidFill>
            <a:srgbClr val="7A0000"/>
          </a:solidFill>
          <a:ln w="12700">
            <a:solidFill>
              <a:srgbClr val="7A00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4078224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[5]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005840" y="4133088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A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React.js &amp; TailwindCSS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1005840" y="4425696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Component-based UI development with utility-first CSS framework.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0" y="4864608"/>
            <a:ext cx="9144000" cy="10972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7A0000"/>
          </a:solidFill>
          <a:ln w="12700">
            <a:solidFill>
              <a:srgbClr val="7A0000"/>
            </a:solidFill>
            <a:prstDash val="solid"/>
          </a:ln>
        </p:spPr>
      </p:sp>
      <p:pic>
        <p:nvPicPr>
          <p:cNvPr id="3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" y="4846320"/>
            <a:ext cx="320040" cy="320040"/>
          </a:xfrm>
          <a:prstGeom prst="rect">
            <a:avLst/>
          </a:prstGeom>
        </p:spPr>
      </p:pic>
      <p:sp>
        <p:nvSpPr>
          <p:cNvPr id="32" name="Text 29"/>
          <p:cNvSpPr/>
          <p:nvPr/>
        </p:nvSpPr>
        <p:spPr>
          <a:xfrm>
            <a:off x="457200" y="4983480"/>
            <a:ext cx="1371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DD/MM/YY</a:t>
            </a:r>
            <a:endParaRPr lang="en-US" sz="700" dirty="0"/>
          </a:p>
        </p:txBody>
      </p:sp>
      <p:sp>
        <p:nvSpPr>
          <p:cNvPr id="33" name="Text 30"/>
          <p:cNvSpPr/>
          <p:nvPr/>
        </p:nvSpPr>
        <p:spPr>
          <a:xfrm>
            <a:off x="2286000" y="4983480"/>
            <a:ext cx="4572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LifePilot – AI Food Delivery Agent</a:t>
            </a:r>
            <a:endParaRPr lang="en-US" sz="700" dirty="0"/>
          </a:p>
        </p:txBody>
      </p:sp>
      <p:sp>
        <p:nvSpPr>
          <p:cNvPr id="34" name="Text 31"/>
          <p:cNvSpPr/>
          <p:nvPr/>
        </p:nvSpPr>
        <p:spPr>
          <a:xfrm>
            <a:off x="8229600" y="4983480"/>
            <a:ext cx="731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7A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600000"/>
          </a:solidFill>
          <a:ln w="12700">
            <a:solidFill>
              <a:srgbClr val="6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64608"/>
            <a:ext cx="9144000" cy="10972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500000"/>
          </a:solidFill>
          <a:ln w="12700">
            <a:solidFill>
              <a:srgbClr val="5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0" y="274320"/>
            <a:ext cx="2743200" cy="2743200"/>
          </a:xfrm>
          <a:prstGeom prst="oval">
            <a:avLst/>
          </a:prstGeom>
          <a:solidFill>
            <a:srgbClr val="600000">
              <a:alpha val="70000"/>
            </a:srgbClr>
          </a:solidFill>
          <a:ln w="19050">
            <a:solidFill>
              <a:srgbClr val="D4A017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0" y="548640"/>
            <a:ext cx="1097280" cy="10972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600200"/>
            <a:ext cx="6400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spc="400" kern="0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8" name="Text 5"/>
          <p:cNvSpPr/>
          <p:nvPr/>
        </p:nvSpPr>
        <p:spPr>
          <a:xfrm>
            <a:off x="1828800" y="274320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AE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3200400" y="3291840"/>
            <a:ext cx="2743200" cy="3657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14400" y="34290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AE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&amp; Engineering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AE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N.K. Orchid College of Engineering &amp; Technology, Solapur  |  2025-26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914400" y="4974336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N.K. Orchid College of Engineering &amp; Technology, Solapur  |  2025-26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LifePilot – AI Food Delivery Agent</dc:title>
  <dc:subject>PptxGenJS Presentation</dc:subject>
  <dc:creator>PptxGenJS</dc:creator>
  <cp:lastModifiedBy>PptxGenJS</cp:lastModifiedBy>
  <cp:revision>1</cp:revision>
  <dcterms:created xsi:type="dcterms:W3CDTF">2026-04-24T02:23:56Z</dcterms:created>
  <dcterms:modified xsi:type="dcterms:W3CDTF">2026-04-24T02:23:56Z</dcterms:modified>
</cp:coreProperties>
</file>